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OpenCV学习笔记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2026年7月22日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4986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下载了 </a:t>
            </a:r>
            <a:r>
              <a:rPr sz="2000" b="1" i="1"/>
              <a:t>opencv</a:t>
            </a:r>
            <a:r>
              <a:rPr sz="2000"/>
              <a:t> ， </a:t>
            </a:r>
            <a:r>
              <a:rPr sz="2000" b="1" i="1"/>
              <a:t>anaconda</a:t>
            </a:r>
            <a:r>
              <a:rPr sz="2000"/>
              <a:t> ，了解了 </a:t>
            </a:r>
            <a:r>
              <a:rPr sz="2000" b="1" i="1"/>
              <a:t>python</a:t>
            </a:r>
            <a:r>
              <a:rPr sz="2000"/>
              <a:t> 的虚拟环境，下载了 </a:t>
            </a:r>
            <a:r>
              <a:rPr sz="2000" b="1" i="1"/>
              <a:t>vim</a:t>
            </a:r>
            <a:r>
              <a:rPr sz="2000"/>
              <a:t> ,并学习了基本用法，查看 </a:t>
            </a:r>
            <a:r>
              <a:rPr sz="2000" b="1" i="1"/>
              <a:t>opencv源码</a:t>
            </a:r>
            <a:r>
              <a:rPr sz="2000"/>
              <a:t> ，学习了 </a:t>
            </a:r>
            <a:r>
              <a:rPr sz="2000" b="1" i="1"/>
              <a:t>grep</a:t>
            </a:r>
            <a:r>
              <a:rPr sz="2000"/>
              <a:t> 的基本用法,学习了创建窗口，摧毁窗口，加载图片等基本操作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环境</a:t>
            </a:r>
          </a:p>
          <a:p>
            <a:pPr lvl="0"/>
            <a:r>
              <a:rPr/>
              <a:t>下载Anaconda，创建虚拟环境</a:t>
            </a:r>
          </a:p>
          <a:p>
            <a:pPr lvl="0"/>
            <a:r>
              <a:rPr/>
              <a:t>下载OpenCV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学习如何创建窗口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819400"/>
          <a:ext cx="8229600" cy="82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cv2.namedWindow()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创建一个窗口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第一个参数为窗口的名字，第二个参数为窗口的类型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cv2.namedWindow(‘new window’,cv2.WINDOW_NORMAL)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cv2.resizeWindow(,,)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重新设置窗口的大小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窗口名字，宽，高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cv2.resizeWindow(‘new window’,640,480)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cv2.imshow(,)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将图像展示到特定的窗口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窗口名字，图像数据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cv2.imshow(‘new window’,0)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cv2.waitKey()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等待按键事件发生或者特定的时间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0就是永久，正数就是时间(ms)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-1(规定时间到了)或者按下的按键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key=cv2.waitKey(0)（将按下的按键赋值给key）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cv2.destroyAllWindows()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关闭所有窗口，释放内存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cv2.destroyAllWindows()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cv2.destroyWindow()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关闭这个窗口，释放内存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窗口名字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cv2.destroyWindow()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71900"/>
            <a:ext cx="8229600" cy="685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 window'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cv2.resizeWindow(</a:t>
            </a:r>
            <a:r>
              <a:rPr>
                <a:solidFill>
                  <a:srgbClr val="4070A0"/>
                </a:solidFill>
                <a:latin typeface="Courier"/>
              </a:rPr>
              <a:t>'new 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cv2.imshow(</a:t>
            </a:r>
            <a:r>
              <a:rPr>
                <a:solidFill>
                  <a:srgbClr val="4070A0"/>
                </a:solidFill>
                <a:latin typeface="Courier"/>
              </a:rPr>
              <a:t>'new 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(key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 pressed"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(key)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学会如何显示图片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7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cv2.imread()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读取图片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图片的地址，图片的形式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img=cv2.imread(‘/home/song/图片/壁纸2.jpeg’,cv2.IMREAD_COLOR)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97000"/>
            <a:ext cx="8229600" cy="30607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'/home/song/图片/壁纸2.jpeg'</a:t>
            </a:r>
            <a:r>
              <a:rPr>
                <a:latin typeface="Courier"/>
              </a:rPr>
              <a:t>,cv2.IMREAD_COLOR)</a:t>
            </a:r>
            <a:br/>
            <a:r>
              <a:rPr>
                <a:latin typeface="Courier"/>
              </a:rPr>
              <a:t>cv2.imshow(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,img)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"q"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 Pressed!"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cv2.destroyWindow(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终端命令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学会使用vi的查找功能</a:t>
            </a:r>
          </a:p>
          <a:p>
            <a:pPr lvl="0" indent="0" marL="1270000">
              <a:buNone/>
            </a:pPr>
            <a:r>
              <a:rPr sz="2000"/>
              <a:t>/ + 所需要查找的内容</a:t>
            </a:r>
          </a:p>
          <a:p>
            <a:pPr lvl="0" indent="0">
              <a:buNone/>
            </a:pPr>
            <a:r>
              <a:rPr>
                <a:latin typeface="Courier"/>
              </a:rPr>
              <a:t>/imread</a:t>
            </a:r>
            <a:r>
              <a:rPr b="1">
                <a:solidFill>
                  <a:srgbClr val="FF0000"/>
                </a:solidFill>
                <a:latin typeface="Courier"/>
              </a:rPr>
              <a:t>(</a:t>
            </a:r>
            <a:r>
              <a:rPr>
                <a:latin typeface="Courier"/>
              </a:rPr>
              <a:t> +ENTER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学会使用grep查找</a:t>
            </a:r>
          </a:p>
          <a:p>
            <a:pPr lvl="0" indent="0" marL="1270000">
              <a:buNone/>
            </a:pPr>
            <a:r>
              <a:rPr sz="2000"/>
              <a:t>grep -rin –include”</a:t>
            </a:r>
            <a:r>
              <a:rPr sz="2000" i="1"/>
              <a:t>.XXX” “XXXX” </a:t>
            </a:r>
            <a:r>
              <a:rPr sz="2000" b="1"/>
              <a:t>.</a:t>
            </a:r>
            <a:r>
              <a:rPr sz="2000"/>
              <a:t>*</a:t>
            </a:r>
          </a:p>
          <a:p>
            <a:pPr lvl="0"/>
            <a:r>
              <a:rPr/>
              <a:t>-r：递归搜索</a:t>
            </a:r>
          </a:p>
          <a:p>
            <a:pPr lvl="0"/>
            <a:r>
              <a:rPr/>
              <a:t>-i：忽略大小写</a:t>
            </a:r>
          </a:p>
          <a:p>
            <a:pPr lvl="0"/>
            <a:r>
              <a:rPr/>
              <a:t>-n:显示行号</a:t>
            </a:r>
          </a:p>
          <a:p>
            <a:pPr lvl="0"/>
            <a:r>
              <a:rPr/>
              <a:t>–include”“是所查找文件名要包含的内容</a:t>
            </a:r>
          </a:p>
          <a:p>
            <a:pPr lvl="0"/>
            <a:r>
              <a:rPr/>
              <a:t>*.XXX是扩展名是XXX</a:t>
            </a:r>
          </a:p>
          <a:p>
            <a:pPr lvl="0"/>
            <a:r>
              <a:rPr/>
              <a:t>“XXXX”是要搜索的内容</a:t>
            </a:r>
          </a:p>
          <a:p>
            <a:pPr lvl="0"/>
            <a:r>
              <a:rPr b="1" i="1"/>
              <a:t>.</a:t>
            </a:r>
            <a:r>
              <a:rPr/>
              <a:t> 意味着当前目录</a:t>
            </a:r>
          </a:p>
          <a:p>
            <a:pPr lvl="1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-rin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--include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"*.hpp"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"imread("</a:t>
            </a:r>
            <a:r>
              <a:rPr>
                <a:latin typeface="Courier"/>
              </a:rPr>
              <a:t> 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2026年7月23日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3208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学习了保存图片，读取与写入视频文件，获取鼠标事件，创立trackbar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保存图片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641600"/>
          <a:ext cx="8229600" cy="35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cv2.imwrite()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保存图片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图片的地址，图片的形式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bool(1:成功保存，0：失败)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cv2.imwrite(‘/home/song/Code/Python/CV/Pic.png’,img)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124200"/>
            <a:ext cx="8229600" cy="1320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'/home/song/图片/壁纸2.jpeg'</a:t>
            </a:r>
            <a:r>
              <a:rPr>
                <a:latin typeface="Courier"/>
              </a:rPr>
              <a:t>,cv2.IMREAD_COLOR)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"q"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 Pressed!"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cv2.imwrite(</a:t>
            </a:r>
            <a:r>
              <a:rPr>
                <a:solidFill>
                  <a:srgbClr val="4070A0"/>
                </a:solidFill>
                <a:latin typeface="Courier"/>
              </a:rPr>
              <a:t>'/home/song/Code/Python/CV/Pic.png'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"Picture has been saved!"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cv2.destroyWindow(</a:t>
            </a:r>
            <a:r>
              <a:rPr>
                <a:solidFill>
                  <a:srgbClr val="4070A0"/>
                </a:solidFill>
                <a:latin typeface="Courier"/>
              </a:rPr>
              <a:t>'WindowsForImages'</a:t>
            </a:r>
            <a:r>
              <a:rPr>
                <a:latin typeface="Courier"/>
              </a:rPr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从摄像头设备或者本地视频文件中捉取视频帧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cv2.VideoCapture()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打开摄像头获得资源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设备号，摄像头资源的底层接口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返回一个类，这个语句一般赋值给一个变量，之后通过变量来进行操作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capture=cv2.VideoCapture(0,cv2.CAP_ANY)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cv2.VideoCapture()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打开摄像头获得资源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本地视频的地址，摄像头资源的底层接口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返回一个类，这个语句一般赋值给一个变量，之后通过变量来进行操作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capture=cv2.VideoCapture(‘/run/media/song/Data/UESTC/课程/2025.1eagp/Academic English Materials PHASE 1-20250917/CS3/CS3 Talking with your Tutor - Part 1.mp4’,cv2.CAP_ANY)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variable.read()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读取视频帧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第一个是是否成功读取帧，第二个是图片（mat格式u）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ret,frame=capture.read()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variable.release()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释放摄像头/本地视频文件资源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capture.release()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3400"/>
            <a:ext cx="8229600" cy="1384300"/>
          </a:xfrm>
        </p:spPr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#创建窗口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'video'</a:t>
            </a:r>
            <a:r>
              <a:rPr>
                <a:latin typeface="Courier"/>
              </a:rPr>
              <a:t>,cv2.WINDOW_NORMAL)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#获得为了视频打开摄像头，0是设备（摄像头）编号，CAP_ANY是为系统自动找到一个合适的API接口（哪一个底层的库来访问摄像头资源）</a:t>
            </a:r>
            <a:br/>
            <a:r>
              <a:rPr>
                <a:latin typeface="Courier"/>
              </a:rPr>
              <a:t>capture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cv2.VideoCapture(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,cv2.CAP_ANY)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#获得为了视频打开摄像头，从视频文件读取视频帧，CAP_ANY是为系统自动找到一个合适的API接口（哪一个底层的库来访问摄像头资源）</a:t>
            </a:r>
            <a:br/>
            <a:r>
              <a:rPr>
                <a:latin typeface="Courier"/>
              </a:rPr>
              <a:t>capture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cv2.VideoCapture(</a:t>
            </a:r>
            <a:r>
              <a:rPr>
                <a:solidFill>
                  <a:srgbClr val="4070A0"/>
                </a:solidFill>
                <a:latin typeface="Courier"/>
              </a:rPr>
              <a:t>'/run/media/song/Data/UESTC/课程/2025.1eagp/Academic English Materials PHASE 1-20250917/CS3/CS3 Talking with your Tutor - Part 1.mp4'</a:t>
            </a:r>
            <a:r>
              <a:rPr>
                <a:latin typeface="Courier"/>
              </a:rPr>
              <a:t>,cv2.CAP_ANY)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#变量</a:t>
            </a:r>
            <a:br/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 i="1">
                <a:solidFill>
                  <a:srgbClr val="60A0B0"/>
                </a:solidFill>
                <a:latin typeface="Courier"/>
              </a:rPr>
              <a:t>#保存图片数目</a:t>
            </a:r>
            <a:br/>
            <a:r>
              <a:rPr>
                <a:latin typeface="Courier"/>
              </a:rPr>
              <a:t>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i="1">
                <a:solidFill>
                  <a:srgbClr val="60A0B0"/>
                </a:solidFill>
                <a:latin typeface="Courier"/>
              </a:rPr>
              <a:t>#是否第一次获得摄像头资源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#capture.read()两个返回值：第一个是是否成功读取帧，第二个是图片（mat格式u）</a:t>
            </a:r>
            <a:br/>
            <a:r>
              <a:rPr>
                <a:latin typeface="Courier"/>
              </a:rPr>
              <a:t>    ret,frame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capture.read()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Camera_First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"Camera False!"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ret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Camera_First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"Camera OK!"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#显示图片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'video'</a:t>
            </a:r>
            <a:r>
              <a:rPr>
                <a:latin typeface="Courier"/>
              </a:rPr>
              <a:t>,frame)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#等待key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#退出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"Quit the window!"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#保存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cv2.imwrite(</a:t>
            </a:r>
            <a:r>
              <a:rPr>
                <a:solidFill>
                  <a:srgbClr val="4070A0"/>
                </a:solidFill>
                <a:latin typeface="Courier"/>
              </a:rPr>
              <a:t>'/home/song/Code/Python/CV/Pic/Camera'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(a)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70A0"/>
                </a:solidFill>
                <a:latin typeface="Courier"/>
              </a:rPr>
              <a:t>'.png'</a:t>
            </a:r>
            <a:r>
              <a:rPr>
                <a:latin typeface="Courier"/>
              </a:rPr>
              <a:t>,frame)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"Picture Saved!"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#释放资源</a:t>
            </a:r>
            <a:br/>
            <a:r>
              <a:rPr>
                <a:latin typeface="Courier"/>
              </a:rPr>
              <a:t>capture.release()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根据视频帧制作视频文件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40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variable=cv2.VideoWriter.fourcc()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规定视频编码格式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字符串（编码格式）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fourcc=cv2.VideoWriter.fourcc(‘M’,‘J’,‘P’,‘G’)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variable=cv2.VideoWriter()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将视频文件的信息给类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地址，编码格式，帧数，分辨率，是否是彩色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vw=cv2.VideoWriter(‘Pic/MakeVideo.mp4’,fourcc,25,(640,480),isColor=True)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variable.write(mat)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将视频帧写入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vw.write(frame)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variable.release()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释放资源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vw.release()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30500"/>
            <a:ext cx="8229600" cy="17272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#创建窗口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'video'</a:t>
            </a:r>
            <a:r>
              <a:rPr>
                <a:latin typeface="Courier"/>
              </a:rPr>
              <a:t>,cv2.WINDOW_NORMAL)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#写入视频编码格式</a:t>
            </a:r>
            <a:br/>
            <a:r>
              <a:rPr>
                <a:latin typeface="Courier"/>
              </a:rPr>
              <a:t>fourcc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cv2.VideoWriter.fourcc(</a:t>
            </a:r>
            <a:r>
              <a:rPr>
                <a:solidFill>
                  <a:srgbClr val="4070A0"/>
                </a:solidFill>
                <a:latin typeface="Courier"/>
              </a:rPr>
              <a:t>'M'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'J'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'P'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'G'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#获得为了视频打开摄像头，0是设备（摄像头）编号，CAP_ANY是为系统自动找到一个合适的API接口（哪一个底层的库来访问摄像头资源）</a:t>
            </a:r>
            <a:br/>
            <a:r>
              <a:rPr>
                <a:latin typeface="Courier"/>
              </a:rPr>
              <a:t>capture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cv2.VideoCapture(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,cv2.CAP_ANY)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</a:t>
            </a:r>
            <a:br/>
            <a:r>
              <a:rPr>
                <a:latin typeface="Courier"/>
              </a:rPr>
              <a:t>vw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cv2.VideoWriter(</a:t>
            </a:r>
            <a:r>
              <a:rPr>
                <a:solidFill>
                  <a:srgbClr val="4070A0"/>
                </a:solidFill>
                <a:latin typeface="Courier"/>
              </a:rPr>
              <a:t>'Pic/MakeVideo.mp4'</a:t>
            </a:r>
            <a:r>
              <a:rPr>
                <a:latin typeface="Courier"/>
              </a:rPr>
              <a:t>,fourcc,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),isColor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#变量</a:t>
            </a:r>
            <a:br/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 i="1">
                <a:solidFill>
                  <a:srgbClr val="60A0B0"/>
                </a:solidFill>
                <a:latin typeface="Courier"/>
              </a:rPr>
              <a:t>#保存图片数目</a:t>
            </a:r>
            <a:br/>
            <a:r>
              <a:rPr>
                <a:latin typeface="Courier"/>
              </a:rPr>
              <a:t>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i="1">
                <a:solidFill>
                  <a:srgbClr val="60A0B0"/>
                </a:solidFill>
                <a:latin typeface="Courier"/>
              </a:rPr>
              <a:t>#是否第一次获得摄像头资源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capture.isOpened():</a:t>
            </a:r>
            <a:r>
              <a:rPr i="1">
                <a:solidFill>
                  <a:srgbClr val="60A0B0"/>
                </a:solidFill>
                <a:latin typeface="Courier"/>
              </a:rPr>
              <a:t>#判断摄像头是否被打开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#capture.read()两个返回值：第一个是是否成功读取帧，第二个是图片（mat格式u）</a:t>
            </a:r>
            <a:br/>
            <a:r>
              <a:rPr>
                <a:latin typeface="Courier"/>
              </a:rPr>
              <a:t>    ret,frame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capture.read()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Camera_First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"Camera False!"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ret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Camera_First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"Camera OK!"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Camera_First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        </a:t>
            </a:r>
            <a:r>
              <a:rPr i="1">
                <a:solidFill>
                  <a:srgbClr val="60A0B0"/>
                </a:solidFill>
                <a:latin typeface="Courier"/>
              </a:rPr>
              <a:t>#显示图片</a:t>
            </a:r>
            <a:br/>
            <a:r>
              <a:rPr>
                <a:latin typeface="Courier"/>
              </a:rPr>
              <a:t>        cv2.imshow(</a:t>
            </a:r>
            <a:r>
              <a:rPr>
                <a:solidFill>
                  <a:srgbClr val="4070A0"/>
                </a:solidFill>
                <a:latin typeface="Courier"/>
              </a:rPr>
              <a:t>'video'</a:t>
            </a:r>
            <a:r>
              <a:rPr>
                <a:latin typeface="Courier"/>
              </a:rPr>
              <a:t>,frame)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#保存到特定地址</a:t>
            </a:r>
            <a:br/>
            <a:r>
              <a:rPr>
                <a:latin typeface="Courier"/>
              </a:rPr>
              <a:t>        vw.write(frame)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#等待key</a:t>
            </a:r>
            <a:br/>
            <a:r>
              <a:rPr>
                <a:latin typeface="Courier"/>
              </a:rPr>
              <a:t>    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#退出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"Quit the window!"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#保存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's'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    cv2.imwrite(</a:t>
            </a:r>
            <a:r>
              <a:rPr>
                <a:solidFill>
                  <a:srgbClr val="4070A0"/>
                </a:solidFill>
                <a:latin typeface="Courier"/>
              </a:rPr>
              <a:t>'Pic/Camera'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(a)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70A0"/>
                </a:solidFill>
                <a:latin typeface="Courier"/>
              </a:rPr>
              <a:t>'.png'</a:t>
            </a:r>
            <a:r>
              <a:rPr>
                <a:latin typeface="Courier"/>
              </a:rPr>
              <a:t>,frame)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"Picture Saved!"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#释放资源</a:t>
            </a:r>
            <a:br/>
            <a:r>
              <a:rPr>
                <a:latin typeface="Courier"/>
              </a:rPr>
              <a:t>capture.release()</a:t>
            </a:r>
            <a:br/>
            <a:r>
              <a:rPr>
                <a:latin typeface="Courier"/>
              </a:rPr>
              <a:t>vw.release()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鼠标事件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cv2.setMouseCallback()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设置相应窗口的鼠标回调函数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窗口名字，回调函数，其他参数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cv2.setMouseCallback(‘window’,Mouse,param=None)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设置相应的回调函数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Mouse(event,x,y,flags,N):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cv2.EVENT_LBUTTONDOWN: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"Left Button Pressed!"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cv2.EVENT_RBUTTONDOWN: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"Right Button Pressed!"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cv2.EVENT_LBUTTONUP: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"Left Button Released!"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cv2.EVENT_RBUTTONUP: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"Right Button Released!"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,cv2.WINDOW_GUI_EXPANDED)</a:t>
            </a:r>
            <a:br/>
            <a:r>
              <a:rPr>
                <a:latin typeface="Courier"/>
              </a:rPr>
              <a:t>cv2.resizeWindow(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np.zeros((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np.uint8)</a:t>
            </a:r>
            <a:br/>
            <a:r>
              <a:rPr>
                <a:latin typeface="Courier"/>
              </a:rPr>
              <a:t>cv2.setMouseCallback(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,Mouse,param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trackbar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cv2.createTrackbar()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创建滑块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滑块名字，窗口名字，起始值，最大值，回调函数（当滑块位置改变时会调用）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cv2.createTrackbar(‘R’,‘window’,0,255,cb)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cv2.getTrackbarPos(‘B’,‘window’)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获得滑块的位置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滑块名称，窗口名称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int(滑块位置)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cv2.getTrackbarPos(‘B’,‘window’)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1600"/>
            <a:ext cx="8229600" cy="1816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cb(x):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pass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#创建窗口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cv2.resizeWindow(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#创建trackbar</a:t>
            </a:r>
            <a:br/>
            <a:r>
              <a:rPr>
                <a:latin typeface="Courier"/>
              </a:rPr>
              <a:t>cv2.createTrackbar(</a:t>
            </a:r>
            <a:r>
              <a:rPr>
                <a:solidFill>
                  <a:srgbClr val="4070A0"/>
                </a:solidFill>
                <a:latin typeface="Courier"/>
              </a:rPr>
              <a:t>'R'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,cb)</a:t>
            </a:r>
            <a:br/>
            <a:r>
              <a:rPr>
                <a:latin typeface="Courier"/>
              </a:rPr>
              <a:t>cv2.createTrackbar(</a:t>
            </a:r>
            <a:r>
              <a:rPr>
                <a:solidFill>
                  <a:srgbClr val="4070A0"/>
                </a:solidFill>
                <a:latin typeface="Courier"/>
              </a:rPr>
              <a:t>'G'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,cb)</a:t>
            </a:r>
            <a:br/>
            <a:r>
              <a:rPr>
                <a:latin typeface="Courier"/>
              </a:rPr>
              <a:t>cv2.createTrackbar(</a:t>
            </a:r>
            <a:r>
              <a:rPr>
                <a:solidFill>
                  <a:srgbClr val="4070A0"/>
                </a:solidFill>
                <a:latin typeface="Courier"/>
              </a:rPr>
              <a:t>'B'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,cb)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#创建numpy的元素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np.zeros((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np.uint8)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#显示窗口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#获取trackbar的值</a:t>
            </a:r>
            <a:br/>
            <a:r>
              <a:rPr>
                <a:latin typeface="Courier"/>
              </a:rPr>
              <a:t>    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cv2.getTrackbarPos(</a:t>
            </a:r>
            <a:r>
              <a:rPr>
                <a:solidFill>
                  <a:srgbClr val="4070A0"/>
                </a:solidFill>
                <a:latin typeface="Courier"/>
              </a:rPr>
              <a:t>'R'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cv2.getTrackbarPos(</a:t>
            </a:r>
            <a:r>
              <a:rPr>
                <a:solidFill>
                  <a:srgbClr val="4070A0"/>
                </a:solidFill>
                <a:latin typeface="Courier"/>
              </a:rPr>
              <a:t>'G'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cv2.getTrackbarPos(</a:t>
            </a:r>
            <a:r>
              <a:rPr>
                <a:solidFill>
                  <a:srgbClr val="4070A0"/>
                </a:solidFill>
                <a:latin typeface="Courier"/>
              </a:rPr>
              <a:t>'B'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#赋值</a:t>
            </a:r>
            <a:br/>
            <a:r>
              <a:rPr>
                <a:latin typeface="Courier"/>
              </a:rPr>
              <a:t>    img[:]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[b,g,r]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#释放资源</a:t>
            </a:r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2026年7月24日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969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学习了Numpy基础，通道的分割与合并画线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Numpy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17700"/>
          <a:ext cx="8229600" cy="596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a=np.zeros()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创建一个全0的数组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shape，type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a=np.zeros((3,2,7),np.uint8)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a=np.ones()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创建一个全1的数组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shape，type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a=np.ones((3,2,7),np.uint8)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b=np.identity()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创建单位数组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大小，type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b=np.identity(8,dtype=np.uint8)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c=np.eye()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创建类单位数组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row，column，para（从第一行的第几个元素开始为1）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c=np.eye(4,6,1)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d=np.full()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创建全为特定值的数组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shape，value,type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d=np.full((4,6),12,np.uint8)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41600"/>
            <a:ext cx="8229600" cy="1816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np.zeros((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),np.uint8)</a:t>
            </a:r>
            <a:br/>
            <a:r>
              <a:rPr>
                <a:latin typeface="Courier"/>
              </a:rPr>
              <a:t>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np.identity(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np.uint8)</a:t>
            </a:r>
            <a:br/>
            <a:r>
              <a:rPr>
                <a:latin typeface="Courier"/>
              </a:rPr>
              <a:t>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np.eye(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np.full((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latin typeface="Courier"/>
              </a:rPr>
              <a:t>,np.uint8)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(a)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(b)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(d)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Numpy与图像</a:t>
            </a:r>
          </a:p>
          <a:p>
            <a:pPr lvl="0" indent="0" marL="0">
              <a:buNone/>
            </a:pPr>
            <a:r>
              <a:rPr/>
              <a:t>将一个 </a:t>
            </a:r>
            <a:r>
              <a:rPr b="1" i="1"/>
              <a:t>numpy</a:t>
            </a:r>
            <a:r>
              <a:rPr/>
              <a:t> 数组赋值给 </a:t>
            </a:r>
            <a:r>
              <a:rPr b="1" i="1"/>
              <a:t>img</a:t>
            </a:r>
            <a:r>
              <a:rPr/>
              <a:t>，后续操作就 </a:t>
            </a:r>
            <a:r>
              <a:rPr b="1"/>
              <a:t>跟普通的一样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 marL="1270000">
              <a:buNone/>
            </a:pPr>
            <a:r>
              <a:rPr sz="2000"/>
              <a:t>这是一个通过鼠标左右建控制屏幕亮度（颜色）的代码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>
                <a:latin typeface="Courier"/>
              </a:rPr>
              <a:t>color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br/>
            <a:r>
              <a:rPr>
                <a:latin typeface="Courier"/>
              </a:rPr>
              <a:t>img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np.full((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),color,np.uint8)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'NumpyWindow'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OnMouse(event,x,y,flag,para):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global</a:t>
            </a:r>
            <a:r>
              <a:rPr>
                <a:latin typeface="Courier"/>
              </a:rPr>
              <a:t> color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#左键：亮度升高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cv2.EVENT_LBUTTONDOWN:</a:t>
            </a:r>
            <a:br/>
            <a:r>
              <a:rPr>
                <a:latin typeface="Courier"/>
              </a:rPr>
              <a:t>        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(color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#右键：亮度降低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event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cv2.EVENT_RBUTTONDOWN:</a:t>
            </a:r>
            <a:br/>
            <a:r>
              <a:rPr>
                <a:latin typeface="Courier"/>
              </a:rPr>
              <a:t>        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(color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%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br/>
            <a:r>
              <a:rPr>
                <a:latin typeface="Courier"/>
              </a:rPr>
              <a:t>    img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np.full((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),color,np.uint8)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'NumpyWindow'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cv2.setMouseCallback(</a:t>
            </a:r>
            <a:r>
              <a:rPr>
                <a:solidFill>
                  <a:srgbClr val="4070A0"/>
                </a:solidFill>
                <a:latin typeface="Courier"/>
              </a:rPr>
              <a:t>'NumpyWindow'</a:t>
            </a:r>
            <a:r>
              <a:rPr>
                <a:latin typeface="Courier"/>
              </a:rPr>
              <a:t>,OnMouse,param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"NumpyWindow"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img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np.full((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),color,np.uint8)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颜色通道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cv2.split()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将现有图像分割成三个通道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对应的通道的值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b,g,r=cv2.split(img)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cv2.merge((g,r,b))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将不同通道的值和在一起形成一个三通道的数组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（多个通道）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多通道数组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cv2.merge((g,r,b))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'./Pic/Pic.png'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'Pic'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cv2.resizeWindow(</a:t>
            </a:r>
            <a:r>
              <a:rPr>
                <a:solidFill>
                  <a:srgbClr val="4070A0"/>
                </a:solidFill>
                <a:latin typeface="Courier"/>
              </a:rPr>
              <a:t>'Pic'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#分割通道</a:t>
            </a:r>
            <a:br/>
            <a:r>
              <a:rPr>
                <a:latin typeface="Courier"/>
              </a:rPr>
              <a:t>b,g,r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cv2.split(img)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#合并通道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'Pic'</a:t>
            </a:r>
            <a:r>
              <a:rPr>
                <a:latin typeface="Courier"/>
              </a:rPr>
              <a:t>,cv2.merge((g,r,b)))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画线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cv2.line()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画线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图片，起始点，终止点，颜色，线的类型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cv2.line(img,(320,0),(0,480),(255,0,0),cv2.LINE_4)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'DrawLine'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np.full((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np.uint8)</a:t>
            </a:r>
            <a:br/>
            <a:r>
              <a:rPr>
                <a:latin typeface="Courier"/>
              </a:rPr>
              <a:t>cv2.resizeWindow(</a:t>
            </a:r>
            <a:r>
              <a:rPr>
                <a:solidFill>
                  <a:srgbClr val="4070A0"/>
                </a:solidFill>
                <a:latin typeface="Courier"/>
              </a:rPr>
              <a:t>'DrawLine'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#img,起始点，终止点，颜色，线的类型</a:t>
            </a:r>
            <a:br/>
            <a:r>
              <a:rPr>
                <a:latin typeface="Courier"/>
              </a:rPr>
              <a:t>cv2.line(img,(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),(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),cv2.LINE_4)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'DrawLine'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2026年7月27日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231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图片上显示文字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552700"/>
          <a:ext cx="8229600" cy="54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cv2.putText()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在一个窗口的图片上显示文字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窗口名字，文字，文字的位置(左下角)，字体，字号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void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cv2.putText(img,‘Hello World’,(100,20),cv2.FONT_HERSHEY_PLAIN,3,(0,0,0))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'text'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np.full((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latin typeface="Courier"/>
              </a:rPr>
              <a:t>,np.uint8)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cv2.putText(img,</a:t>
            </a:r>
            <a:r>
              <a:rPr>
                <a:solidFill>
                  <a:srgbClr val="4070A0"/>
                </a:solidFill>
                <a:latin typeface="Courier"/>
              </a:rPr>
              <a:t>'Hello World'</a:t>
            </a:r>
            <a:r>
              <a:rPr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),cv2.FONT_HERSHEY_PLAIN,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'text'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图片加法（加减乘除同理）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add=cv2.add()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将两个图片相加（对应像素的值，超过255就保留成255）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两个图片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add=cv2.add(o1,o2)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'origin1'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'origin2'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'add'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o1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'./Pic/Pic.png'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o2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np.full((</a:t>
            </a:r>
            <a:r>
              <a:rPr>
                <a:solidFill>
                  <a:srgbClr val="40A070"/>
                </a:solidFill>
                <a:latin typeface="Courier"/>
              </a:rPr>
              <a:t>847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1275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155</a:t>
            </a:r>
            <a:r>
              <a:rPr>
                <a:latin typeface="Courier"/>
              </a:rPr>
              <a:t>,np.uint8)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(o1.shape)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add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cv2.add(o1,o2)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'origin1'</a:t>
            </a:r>
            <a:r>
              <a:rPr>
                <a:latin typeface="Courier"/>
              </a:rPr>
              <a:t>,o1)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'origin2'</a:t>
            </a:r>
            <a:r>
              <a:rPr>
                <a:latin typeface="Courier"/>
              </a:rPr>
              <a:t>,o2)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'add'</a:t>
            </a:r>
            <a:r>
              <a:rPr>
                <a:latin typeface="Courier"/>
              </a:rPr>
              <a:t>,add)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位运算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cv2.bitwise_and()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两个图片像素的与运算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img1,img2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cv2.bitwise_and(img1,img2)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cv2.bitwise_or()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两个图片像素的或运算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img1,img2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cv2.bitwise_or(img1,img2)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cv2.bitwise_and()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两个图片像素的异或运算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img1,img2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cv2.bitwise_xor(img1,img2)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cv2.bitwise_not()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两个图片像素的非运算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img1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cv2.bitwise_not(img)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01900"/>
            <a:ext cx="8229600" cy="1955800"/>
          </a:xfrm>
        </p:spPr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'img1'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'img2'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img1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np.zeros((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),np.uint8)</a:t>
            </a:r>
            <a:br/>
            <a:r>
              <a:rPr>
                <a:latin typeface="Courier"/>
              </a:rPr>
              <a:t>img2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np.zeros((</a:t>
            </a:r>
            <a:r>
              <a:rPr>
                <a:solidFill>
                  <a:srgbClr val="40A070"/>
                </a:solidFill>
                <a:latin typeface="Courier"/>
              </a:rPr>
              <a:t>480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640</a:t>
            </a:r>
            <a:r>
              <a:rPr>
                <a:latin typeface="Courier"/>
              </a:rPr>
              <a:t>),np.uint8)</a:t>
            </a:r>
            <a:br/>
            <a:r>
              <a:rPr>
                <a:latin typeface="Courier"/>
              </a:rPr>
              <a:t>img1[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br/>
            <a:r>
              <a:rPr>
                <a:latin typeface="Courier"/>
              </a:rPr>
              <a:t>img2[</a:t>
            </a:r>
            <a:r>
              <a:rPr>
                <a:solidFill>
                  <a:srgbClr val="40A070"/>
                </a:solidFill>
                <a:latin typeface="Courier"/>
              </a:rPr>
              <a:t>70</a:t>
            </a:r>
            <a:r>
              <a:rPr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70</a:t>
            </a:r>
            <a:r>
              <a:rPr>
                <a:latin typeface="Courier"/>
              </a:rPr>
              <a:t>: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br/>
            <a:br/>
            <a:r>
              <a:rPr>
                <a:latin typeface="Courier"/>
              </a:rPr>
              <a:t>img_and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cv2.bitwise_and(img1,img2)</a:t>
            </a:r>
            <a:br/>
            <a:r>
              <a:rPr>
                <a:latin typeface="Courier"/>
              </a:rPr>
              <a:t>img_not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cv2.bitwise_not(img1)</a:t>
            </a:r>
            <a:br/>
            <a:r>
              <a:rPr>
                <a:latin typeface="Courier"/>
              </a:rPr>
              <a:t>img_or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cv2.bitwise_or(img1,img2)</a:t>
            </a:r>
            <a:br/>
            <a:r>
              <a:rPr>
                <a:latin typeface="Courier"/>
              </a:rPr>
              <a:t>img_xor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cv2.bitwise_xor(img1,img2)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'img1'</a:t>
            </a:r>
            <a:r>
              <a:rPr>
                <a:latin typeface="Courier"/>
              </a:rPr>
              <a:t>,img1)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'img2'</a:t>
            </a:r>
            <a:r>
              <a:rPr>
                <a:latin typeface="Courier"/>
              </a:rPr>
              <a:t>,img2)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'and'</a:t>
            </a:r>
            <a:r>
              <a:rPr>
                <a:latin typeface="Courier"/>
              </a:rPr>
              <a:t>,img_and)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'not'</a:t>
            </a:r>
            <a:r>
              <a:rPr>
                <a:latin typeface="Courier"/>
              </a:rPr>
              <a:t>,img_not)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'or'</a:t>
            </a:r>
            <a:r>
              <a:rPr>
                <a:latin typeface="Courier"/>
              </a:rPr>
              <a:t>,img_or)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'xor'</a:t>
            </a:r>
            <a:r>
              <a:rPr>
                <a:latin typeface="Courier"/>
              </a:rPr>
              <a:t>,img_xor)</a:t>
            </a:r>
            <a:br/>
            <a:r>
              <a:rPr>
                <a:latin typeface="Courier"/>
              </a:rPr>
              <a:t>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思路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水印</a:t>
            </a:r>
          </a:p>
          <a:p>
            <a:pPr lvl="0" indent="0" marL="1270000">
              <a:buNone/>
            </a:pPr>
            <a:r>
              <a:rPr sz="2000"/>
              <a:t>先将对应位置变成黑色，再 </a:t>
            </a:r>
            <a:r>
              <a:rPr sz="2000" b="1" i="1"/>
              <a:t>add</a:t>
            </a:r>
            <a:r>
              <a:rPr sz="2000"/>
              <a:t> 上水印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2026年7月28日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0033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学习了图像的缩放（resize）和翻转（flip）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缩放图片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324100"/>
          <a:ext cx="8229600" cy="25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cv2.resize()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将图像缩放到指定大小或按比例缩放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dsize(目标大小), fx(x轴缩放比例), fy(y轴缩放比例), interpolation(插值方式)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resized=cv2.resize(ori,dsize=None,fx=0.5,fy=0.5)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5100"/>
            <a:ext cx="8229600" cy="1752600"/>
          </a:xfrm>
        </p:spPr>
        <p:txBody>
          <a:bodyPr/>
          <a:lstStyle/>
          <a:p>
            <a:pPr lvl="0"/>
            <a:r>
              <a:rPr b="1"/>
              <a:t>dsize</a:t>
            </a:r>
            <a:r>
              <a:rPr/>
              <a:t>与</a:t>
            </a:r>
            <a:r>
              <a:rPr b="1"/>
              <a:t>fx/fy</a:t>
            </a:r>
            <a:r>
              <a:rPr/>
              <a:t>二选一：指定dsize则缩放到具体尺寸；设dsize=None并用fx/fy则按比例缩放</a:t>
            </a:r>
          </a:p>
          <a:p>
            <a:pPr lvl="0"/>
            <a:r>
              <a:rPr b="1"/>
              <a:t>interpolation</a:t>
            </a:r>
            <a:r>
              <a:rPr/>
              <a:t>（可选）：插值方式，如 </a:t>
            </a:r>
            <a:r>
              <a:rPr>
                <a:latin typeface="Courier"/>
              </a:rPr>
              <a:t>cv2.INTER_LINEAR</a:t>
            </a:r>
            <a:r>
              <a:rPr/>
              <a:t>（默认双线性）、</a:t>
            </a:r>
            <a:r>
              <a:rPr>
                <a:latin typeface="Courier"/>
              </a:rPr>
              <a:t>cv2.INTER_NEAREST</a:t>
            </a:r>
            <a:r>
              <a:rPr/>
              <a:t>（最近邻）、</a:t>
            </a:r>
            <a:r>
              <a:rPr>
                <a:latin typeface="Courier"/>
              </a:rPr>
              <a:t>cv2.INTER_CUBIC</a:t>
            </a:r>
            <a:r>
              <a:rPr/>
              <a:t>（双三次）等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ori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cv2.resize(ori,dsize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,fx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,fy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'origin'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'origin'</a:t>
            </a:r>
            <a:r>
              <a:rPr>
                <a:latin typeface="Courier"/>
              </a:rPr>
              <a:t>,ori)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翻转图片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cv2.flip()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将图像沿指定轴翻转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flipCode(翻转方式)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flip=cv2.flip(ori,0)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flipCode 参数说明：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效果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垂直翻转（沿x轴）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上下颠倒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水平翻转（沿y轴）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左右颠倒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同时沿两个轴翻转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上下左右均颠倒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95600"/>
            <a:ext cx="8229600" cy="15748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ori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'origin'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'flip'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flip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cv2.flip(ori,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'origin'</a:t>
            </a:r>
            <a:r>
              <a:rPr>
                <a:latin typeface="Courier"/>
              </a:rPr>
              <a:t>,ori)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'flip'</a:t>
            </a:r>
            <a:r>
              <a:rPr>
                <a:latin typeface="Courier"/>
              </a:rPr>
              <a:t>,flip)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2026年7月29日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3810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学习了图像的仿射变换（warpAffine），实现对图像的平移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仿射变换（平移）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701800"/>
          <a:ext cx="8229600" cy="3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cv2.warpAffine()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对图像进行仿射变换（平移、旋转、缩放等）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2×3变换矩阵M, 输出尺寸dsize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new=cv2.warpAffine(img,matrix,(w-150,h-200))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6900"/>
            <a:ext cx="8229600" cy="2590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变换矩阵 M 说明：</a:t>
            </a:r>
          </a:p>
          <a:p>
            <a:pPr lvl="0" indent="0">
              <a:buNone/>
            </a:pPr>
            <a:r>
              <a:rPr>
                <a:latin typeface="Courier"/>
              </a:rPr>
              <a:t>M = [[a, b, tx],
     [c, d, ty]]</a:t>
            </a:r>
          </a:p>
          <a:p>
            <a:pPr lvl="0"/>
            <a:r>
              <a:rPr/>
              <a:t>变换公式：</a:t>
            </a:r>
            <a:r>
              <a:rPr>
                <a:latin typeface="Courier"/>
              </a:rPr>
              <a:t>x' = a*x + b*y + tx</a:t>
            </a:r>
            <a:r>
              <a:rPr/>
              <a:t>，</a:t>
            </a:r>
            <a:r>
              <a:rPr>
                <a:latin typeface="Courier"/>
              </a:rPr>
              <a:t>y' = c*x + d*y + ty</a:t>
            </a:r>
          </a:p>
          <a:p>
            <a:pPr lvl="0"/>
            <a:r>
              <a:rPr b="1"/>
              <a:t>平移矩阵</a:t>
            </a:r>
            <a:r>
              <a:rPr/>
              <a:t>：</a:t>
            </a:r>
            <a:r>
              <a:rPr>
                <a:latin typeface="Courier"/>
              </a:rPr>
              <a:t>[[1, 0, tx], [0, 1, ty]]</a:t>
            </a:r>
            <a:r>
              <a:rPr/>
              <a:t>，tx为水平位移，ty为垂直位移</a:t>
            </a:r>
          </a:p>
          <a:p>
            <a:pPr lvl="0"/>
            <a:r>
              <a:rPr b="1"/>
              <a:t>旋转/缩放</a:t>
            </a:r>
            <a:r>
              <a:rPr/>
              <a:t>：可用 </a:t>
            </a:r>
            <a:r>
              <a:rPr>
                <a:latin typeface="Courier"/>
              </a:rPr>
              <a:t>cv2.getRotationMatrix2D()</a:t>
            </a:r>
            <a:r>
              <a:rPr/>
              <a:t> 生成对应的仿射矩阵</a:t>
            </a:r>
          </a:p>
          <a:p>
            <a:pPr lvl="0" indent="0" marL="0">
              <a:buNone/>
            </a:pPr>
            <a:r>
              <a:rPr b="1"/>
              <a:t>注意事项：</a:t>
            </a:r>
          </a:p>
          <a:p>
            <a:pPr lvl="0"/>
            <a:r>
              <a:rPr/>
              <a:t>图像平移后，原图移出的区域会用黑色填充（默认 borderValue=0）</a:t>
            </a:r>
          </a:p>
          <a:p>
            <a:pPr lvl="0"/>
            <a:r>
              <a:rPr/>
              <a:t>dsize 指定输出图像的大小，如果比原图小会自动裁剪</a:t>
            </a:r>
          </a:p>
          <a:p>
            <a:pPr lvl="0"/>
            <a:r>
              <a:rPr/>
              <a:t>borderMode 可指定边界填充模式（默认 </a:t>
            </a:r>
            <a:r>
              <a:rPr>
                <a:latin typeface="Courier"/>
              </a:rPr>
              <a:t>cv2.BORDER_CONSTANT</a:t>
            </a:r>
            <a:r>
              <a:rPr/>
              <a:t>），borderValue 设置填充颜色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'img'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'para'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matrix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np.float32([[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500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h,w,c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img.shape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cv2.warpAffine(img,matrix,(w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150</a:t>
            </a:r>
            <a:r>
              <a:rPr>
                <a:latin typeface="Courier"/>
              </a:rPr>
              <a:t>,h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'img'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'para'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(img.shape)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(new.shape)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思路</a:t>
            </a:r>
          </a:p>
          <a:p>
            <a:pPr lvl="0"/>
            <a:r>
              <a:rPr>
                <a:latin typeface="Courier"/>
              </a:rPr>
              <a:t>matrix = [[1,0,500],[0,1,300]]</a:t>
            </a:r>
            <a:r>
              <a:rPr/>
              <a:t>：表示将图像向右平移500像素，向下平移300像素</a:t>
            </a:r>
          </a:p>
          <a:p>
            <a:pPr lvl="0"/>
            <a:r>
              <a:rPr>
                <a:latin typeface="Courier"/>
              </a:rPr>
              <a:t>dsize = (w-150, h-200)</a:t>
            </a:r>
            <a:r>
              <a:rPr/>
              <a:t>：输出尺寸比原图小，超出部分会被裁剪</a:t>
            </a:r>
          </a:p>
          <a:p>
            <a:pPr lvl="0"/>
            <a:r>
              <a:rPr/>
              <a:t>平移后原图大部分区域移出可视范围，剩余区域被黑色填充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仿射变换（三点确定变换矩阵）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1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cv2.getAffineTransform()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根据三组对应点计算2×3仿射变换矩阵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src(源图像三点), dst(目标图像三点)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2×3变换矩阵M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cv2.getAffineTransform(src,dst)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6700"/>
            <a:ext cx="8229600" cy="2921000"/>
          </a:xfrm>
        </p:spPr>
        <p:txBody>
          <a:bodyPr/>
          <a:lstStyle/>
          <a:p>
            <a:pPr lvl="0"/>
            <a:r>
              <a:rPr/>
              <a:t>仿射变换需要 </a:t>
            </a:r>
            <a:r>
              <a:rPr b="1"/>
              <a:t>三组不共线的对应点</a:t>
            </a:r>
            <a:r>
              <a:rPr/>
              <a:t> 来确定变换矩阵（平移+旋转+缩放+剪切）</a:t>
            </a:r>
          </a:p>
          <a:p>
            <a:pPr lvl="0"/>
            <a:r>
              <a:rPr/>
              <a:t>三组点必须为 </a:t>
            </a:r>
            <a:r>
              <a:rPr>
                <a:latin typeface="Courier"/>
              </a:rPr>
              <a:t>np.float32</a:t>
            </a:r>
            <a:r>
              <a:rPr/>
              <a:t> 类型</a:t>
            </a:r>
          </a:p>
          <a:p>
            <a:pPr lvl="0"/>
            <a:r>
              <a:rPr/>
              <a:t>返回的 2×3 矩阵可直接传入 </a:t>
            </a:r>
            <a:r>
              <a:rPr>
                <a:latin typeface="Courier"/>
              </a:rPr>
              <a:t>cv2.warpAffine()</a:t>
            </a:r>
          </a:p>
          <a:p>
            <a:pPr lvl="0" indent="0" marL="0">
              <a:buNone/>
            </a:pPr>
            <a:r>
              <a:rPr b="1"/>
              <a:t>示例中的变换含义：</a:t>
            </a:r>
          </a:p>
          <a:p>
            <a:pPr lvl="0" indent="0">
              <a:buNone/>
            </a:pPr>
            <a:r>
              <a:rPr>
                <a:latin typeface="Courier"/>
              </a:rPr>
              <a:t>src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]]   </a:t>
            </a:r>
            <a:r>
              <a:rPr i="1">
                <a:solidFill>
                  <a:srgbClr val="60A0B0"/>
                </a:solidFill>
                <a:latin typeface="Courier"/>
              </a:rPr>
              <a:t># 源三角形</a:t>
            </a:r>
            <a:br/>
            <a:r>
              <a:rPr>
                <a:latin typeface="Courier"/>
              </a:rPr>
              <a:t>dst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   </a:t>
            </a:r>
            <a:r>
              <a:rPr i="1">
                <a:solidFill>
                  <a:srgbClr val="60A0B0"/>
                </a:solidFill>
                <a:latin typeface="Courier"/>
              </a:rPr>
              <a:t># 目标三角形（交换了x和y）</a:t>
            </a:r>
          </a:p>
          <a:p>
            <a:pPr lvl="0" indent="0" marL="0">
              <a:buNone/>
            </a:pPr>
            <a:r>
              <a:rPr/>
              <a:t>该变换将 </a:t>
            </a:r>
            <a:r>
              <a:rPr>
                <a:latin typeface="Courier"/>
              </a:rPr>
              <a:t>(0,1)</a:t>
            </a:r>
            <a:r>
              <a:rPr/>
              <a:t> 映射到 </a:t>
            </a:r>
            <a:r>
              <a:rPr>
                <a:latin typeface="Courier"/>
              </a:rPr>
              <a:t>(1,0)</a:t>
            </a:r>
            <a:r>
              <a:rPr/>
              <a:t>，将 </a:t>
            </a:r>
            <a:r>
              <a:rPr>
                <a:latin typeface="Courier"/>
              </a:rPr>
              <a:t>(1,0)</a:t>
            </a:r>
            <a:r>
              <a:rPr/>
              <a:t> 映射到 </a:t>
            </a:r>
            <a:r>
              <a:rPr>
                <a:latin typeface="Courier"/>
              </a:rPr>
              <a:t>(0,1)</a:t>
            </a:r>
            <a:r>
              <a:rPr/>
              <a:t>，本质上是 </a:t>
            </a:r>
            <a:r>
              <a:rPr b="1"/>
              <a:t>沿 y=x 对称的反射变换</a:t>
            </a:r>
            <a:r>
              <a:rPr/>
              <a:t>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math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'win'</a:t>
            </a:r>
            <a:r>
              <a:rPr>
                <a:latin typeface="Courier"/>
              </a:rPr>
              <a:t>,cv2.WINDOW_NORMAL)</a:t>
            </a:r>
            <a:br/>
            <a:r>
              <a:rPr>
                <a:latin typeface="Courier"/>
              </a:rPr>
              <a:t>src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np.float32([[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dst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np.float32([[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cv2.getAffineTransform(src,dst)</a:t>
            </a:r>
            <a:br/>
            <a:r>
              <a:rPr>
                <a:latin typeface="Courier"/>
              </a:rPr>
              <a:t>h,w,c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img.shape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cv2.warpAffine(img,m,(w,h))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'win'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图像旋转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cv2.getRotationMatrix2D()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获取旋转的仿射变换矩阵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旋转中心center, 角度angle(度), 缩放比例scale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2×3旋转矩阵M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cv2.getRotationMatrix2D((w/2,h/2),45,1.0)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35100"/>
            <a:ext cx="8229600" cy="3022600"/>
          </a:xfrm>
        </p:spPr>
        <p:txBody>
          <a:bodyPr/>
          <a:lstStyle/>
          <a:p>
            <a:pPr lvl="0"/>
            <a:r>
              <a:rPr b="1"/>
              <a:t>center</a:t>
            </a:r>
            <a:r>
              <a:rPr/>
              <a:t>：旋转中心坐标，通常取图像中心 </a:t>
            </a:r>
            <a:r>
              <a:rPr>
                <a:latin typeface="Courier"/>
              </a:rPr>
              <a:t>(w/2, h/2)</a:t>
            </a:r>
          </a:p>
          <a:p>
            <a:pPr lvl="0"/>
            <a:r>
              <a:rPr b="1"/>
              <a:t>angle</a:t>
            </a:r>
            <a:r>
              <a:rPr/>
              <a:t>：旋转角度（度），</a:t>
            </a:r>
            <a:r>
              <a:rPr b="1"/>
              <a:t>正值 = 逆时针旋转</a:t>
            </a:r>
          </a:p>
          <a:p>
            <a:pPr lvl="0"/>
            <a:r>
              <a:rPr b="1"/>
              <a:t>scale</a:t>
            </a:r>
            <a:r>
              <a:rPr/>
              <a:t>：缩放比例，1.0 为不缩放</a:t>
            </a:r>
          </a:p>
          <a:p>
            <a:pPr lvl="0"/>
            <a:r>
              <a:rPr/>
              <a:t>返回的 2×3 矩阵可直接传入 </a:t>
            </a:r>
            <a:r>
              <a:rPr>
                <a:latin typeface="Courier"/>
              </a:rPr>
              <a:t>cv2.warpAffine()</a:t>
            </a:r>
          </a:p>
          <a:p>
            <a:pPr lvl="0" indent="0" marL="0">
              <a:buNone/>
            </a:pPr>
            <a:r>
              <a:rPr b="1"/>
              <a:t>旋转矩阵数学形式：</a:t>
            </a:r>
          </a:p>
          <a:p>
            <a:pPr lvl="0" indent="0">
              <a:buNone/>
            </a:pPr>
            <a:r>
              <a:rPr>
                <a:latin typeface="Courier"/>
              </a:rPr>
              <a:t>M = [[α,  β, (1-α)·cx - β·cy],
     [-β, α,  β·cx + (1-α)·cy]]</a:t>
            </a:r>
          </a:p>
          <a:p>
            <a:pPr lvl="0" indent="0" marL="0">
              <a:buNone/>
            </a:pPr>
            <a:r>
              <a:rPr/>
              <a:t>其中 </a:t>
            </a:r>
            <a:r>
              <a:rPr>
                <a:latin typeface="Courier"/>
              </a:rPr>
              <a:t>α = scale·cos(angle)</a:t>
            </a:r>
            <a:r>
              <a:rPr/>
              <a:t>，</a:t>
            </a:r>
            <a:r>
              <a:rPr>
                <a:latin typeface="Courier"/>
              </a:rPr>
              <a:t>β = scale·sin(angle)</a:t>
            </a:r>
            <a:r>
              <a:rPr/>
              <a:t>，</a:t>
            </a:r>
            <a:r>
              <a:rPr>
                <a:latin typeface="Courier"/>
              </a:rPr>
              <a:t>(cx, cy)</a:t>
            </a:r>
            <a:r>
              <a:rPr/>
              <a:t> 为旋转中心</a:t>
            </a:r>
          </a:p>
          <a:p>
            <a:pPr lvl="0" indent="0" marL="0">
              <a:buNone/>
            </a:pPr>
            <a:r>
              <a:rPr b="1"/>
              <a:t>注意：</a:t>
            </a:r>
          </a:p>
          <a:p>
            <a:pPr lvl="0"/>
            <a:r>
              <a:rPr/>
              <a:t>旋转后图像超出原图尺寸的部分会被裁剪掉</a:t>
            </a:r>
          </a:p>
          <a:p>
            <a:pPr lvl="0"/>
            <a:r>
              <a:rPr/>
              <a:t>如需显示完整旋转图像，需通过 </a:t>
            </a:r>
            <a:r>
              <a:rPr>
                <a:latin typeface="Courier"/>
              </a:rPr>
              <a:t>cv2.warpAffine()</a:t>
            </a:r>
            <a:r>
              <a:rPr/>
              <a:t> 的 dsize 参数适当扩大输出尺寸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h,w,c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img.shape</a:t>
            </a:r>
            <a:br/>
            <a:r>
              <a:rPr>
                <a:latin typeface="Courier"/>
              </a:rPr>
              <a:t>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cv2.getRotationMatrix2D((w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,h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</a:t>
            </a:r>
            <a:r>
              <a:rPr>
                <a:solidFill>
                  <a:srgbClr val="40A070"/>
                </a:solidFill>
                <a:latin typeface="Courier"/>
              </a:rPr>
              <a:t>45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1.0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(m)</a:t>
            </a:r>
            <a:br/>
            <a:r>
              <a:rPr>
                <a:latin typeface="Courier"/>
              </a:rPr>
              <a:t>rot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cv2.warpAffine(img,m,(w,h))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'window'</a:t>
            </a:r>
            <a:r>
              <a:rPr>
                <a:latin typeface="Courier"/>
              </a:rPr>
              <a:t>,rot)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透视变换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cv2.getPerspectiveTransform()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根据四组对应点计算3×3透视变换矩阵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src(源图像四点), dst(目标图像四点)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3×3透视变换矩阵M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cv2.getPerspectiveTransform(src,dst)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cv2.warpPerspective()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对图像进行透视变换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3×3变换矩阵M, 输出尺寸dsize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cv2.warpPerspective(img,m,(240,320))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与仿射变换的区别：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1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变换类型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所需点数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变换矩阵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效果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仿射变换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3组对应点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保持平行线平行（平移+旋转+缩放+剪切）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透视变换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4组对应点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不保持平行线（模拟三维视角、倾斜校正）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38300"/>
            <a:ext cx="8229600" cy="2819400"/>
          </a:xfrm>
        </p:spPr>
        <p:txBody>
          <a:bodyPr/>
          <a:lstStyle/>
          <a:p>
            <a:pPr lvl="0"/>
            <a:r>
              <a:rPr/>
              <a:t>四点中 </a:t>
            </a:r>
            <a:r>
              <a:rPr b="1"/>
              <a:t>任意三点不能共线</a:t>
            </a:r>
          </a:p>
          <a:p>
            <a:pPr lvl="0"/>
            <a:r>
              <a:rPr/>
              <a:t>四点通常对应矩形的四个角点，用于 </a:t>
            </a:r>
            <a:r>
              <a:rPr b="1"/>
              <a:t>视角校正</a:t>
            </a:r>
            <a:r>
              <a:rPr/>
              <a:t> 或 </a:t>
            </a:r>
            <a:r>
              <a:rPr b="1"/>
              <a:t>倾斜矫正</a:t>
            </a:r>
          </a:p>
          <a:p>
            <a:pPr lvl="0"/>
            <a:r>
              <a:rPr>
                <a:latin typeface="Courier"/>
              </a:rPr>
              <a:t>cv2.warpPerspective()</a:t>
            </a:r>
            <a:r>
              <a:rPr/>
              <a:t> 的 dsize 指定输出图像的宽度和高度</a:t>
            </a:r>
          </a:p>
          <a:p>
            <a:pPr lvl="0"/>
            <a:r>
              <a:rPr/>
              <a:t>透视变换可以模拟”从斜上方看”的效果，将倾斜的矩形矫正为正视矩形</a:t>
            </a:r>
          </a:p>
          <a:p>
            <a:pPr lvl="0" indent="0" marL="0">
              <a:buNone/>
            </a:pPr>
            <a:r>
              <a:rPr b="1"/>
              <a:t>示例：</a:t>
            </a:r>
          </a:p>
          <a:p>
            <a:pPr lvl="0" indent="0">
              <a:buNone/>
            </a:pPr>
            <a:r>
              <a:rPr>
                <a:latin typeface="Courier"/>
              </a:rPr>
              <a:t>src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66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186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208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150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257</a:t>
            </a:r>
            <a:r>
              <a:rPr>
                <a:latin typeface="Courier"/>
              </a:rPr>
              <a:t>]]   </a:t>
            </a:r>
            <a:r>
              <a:rPr i="1">
                <a:solidFill>
                  <a:srgbClr val="60A0B0"/>
                </a:solidFill>
                <a:latin typeface="Courier"/>
              </a:rPr>
              <a:t># 原图中倾斜矩形的四个角点</a:t>
            </a:r>
            <a:br/>
            <a:r>
              <a:rPr>
                <a:latin typeface="Courier"/>
              </a:rPr>
              <a:t>dst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240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], [</a:t>
            </a:r>
            <a:r>
              <a:rPr>
                <a:solidFill>
                  <a:srgbClr val="40A070"/>
                </a:solidFill>
                <a:latin typeface="Courier"/>
              </a:rPr>
              <a:t>240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]]       </a:t>
            </a:r>
            <a:r>
              <a:rPr i="1">
                <a:solidFill>
                  <a:srgbClr val="60A0B0"/>
                </a:solidFill>
                <a:latin typeface="Courier"/>
              </a:rPr>
              <a:t># 目标矩形的四个角点（正视）</a:t>
            </a:r>
          </a:p>
          <a:p>
            <a:pPr lvl="0" indent="0" marL="0">
              <a:buNone/>
            </a:pPr>
            <a:r>
              <a:rPr/>
              <a:t>该变换将从倾斜视角拍摄的矩形区域校正为 240×320 的正视矩形。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'Pic/pic2.jpeg'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h,w,c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img.shape</a:t>
            </a:r>
            <a:br/>
            <a:r>
              <a:rPr>
                <a:latin typeface="Courier"/>
              </a:rPr>
              <a:t>src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np.float32([[</a:t>
            </a:r>
            <a:r>
              <a:rPr>
                <a:solidFill>
                  <a:srgbClr val="40A070"/>
                </a:solidFill>
                <a:latin typeface="Courier"/>
              </a:rPr>
              <a:t>88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66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186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208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150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257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dst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np.float32([[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240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],[</a:t>
            </a:r>
            <a:r>
              <a:rPr>
                <a:solidFill>
                  <a:srgbClr val="40A070"/>
                </a:solidFill>
                <a:latin typeface="Courier"/>
              </a:rPr>
              <a:t>240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]])</a:t>
            </a:r>
            <a:br/>
            <a:r>
              <a:rPr>
                <a:latin typeface="Courier"/>
              </a:rPr>
              <a:t>m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cv2.getPerspectiveTransform(src,dst)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cv2.warpPerspective(img,m,(</a:t>
            </a:r>
            <a:r>
              <a:rPr>
                <a:solidFill>
                  <a:srgbClr val="40A070"/>
                </a:solidFill>
                <a:latin typeface="Courier"/>
              </a:rPr>
              <a:t>240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320</a:t>
            </a:r>
            <a:r>
              <a:rPr>
                <a:latin typeface="Courier"/>
              </a:rPr>
              <a:t>))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总结：图像变换家族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981200"/>
                <a:gridCol w="1651000"/>
                <a:gridCol w="1651000"/>
                <a:gridCol w="13208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变换类型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核心函数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矩阵大小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所需点数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特点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平移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>
                          <a:latin typeface="Courier"/>
                        </a:rPr>
                        <a:t>warpAffine</a:t>
                      </a:r>
                      <a:r>
                        <a:rPr/>
                        <a:t> + 手动矩阵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0（直接设tx,ty）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最简单的位移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旋转/缩放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>
                          <a:latin typeface="Courier"/>
                        </a:rPr>
                        <a:t>getRotationMatrix2D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warpAffine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0（指定中心和角度）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绕中心旋转+缩放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仿射（通用）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>
                          <a:latin typeface="Courier"/>
                        </a:rPr>
                        <a:t>getAffineTransform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warpAffine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保持平行性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透视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>
                          <a:latin typeface="Courier"/>
                        </a:rPr>
                        <a:t>getPerspectiveTransform</a:t>
                      </a:r>
                      <a:r>
                        <a:rPr/>
                        <a:t> + </a:t>
                      </a:r>
                      <a:r>
                        <a:rPr>
                          <a:latin typeface="Courier"/>
                        </a:rPr>
                        <a:t>warpPerspective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3×3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模拟三维视角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73400"/>
            <a:ext cx="8229600" cy="1384300"/>
          </a:xfrm>
        </p:spPr>
        <p:txBody>
          <a:bodyPr/>
          <a:lstStyle/>
          <a:p>
            <a:pPr lvl="0"/>
            <a:r>
              <a:rPr b="1"/>
              <a:t>仿射变换</a:t>
            </a:r>
            <a:r>
              <a:rPr/>
              <a:t> 是 </a:t>
            </a:r>
            <a:r>
              <a:rPr b="1"/>
              <a:t>透视变换的特例</a:t>
            </a:r>
            <a:r>
              <a:rPr/>
              <a:t>：当透视矩阵的 </a:t>
            </a:r>
            <a:r>
              <a:rPr>
                <a:latin typeface="Courier"/>
              </a:rPr>
              <a:t>[2][0]</a:t>
            </a:r>
            <a:r>
              <a:rPr/>
              <a:t> 和 </a:t>
            </a:r>
            <a:r>
              <a:rPr>
                <a:latin typeface="Courier"/>
              </a:rPr>
              <a:t>[2][1]</a:t>
            </a:r>
            <a:r>
              <a:rPr/>
              <a:t> 元素为 0 时，透视退化为仿射</a:t>
            </a:r>
          </a:p>
          <a:p>
            <a:pPr lvl="0"/>
            <a:r>
              <a:rPr b="1"/>
              <a:t>所有变换</a:t>
            </a:r>
            <a:r>
              <a:rPr/>
              <a:t> 都会导致原图部分区域移出画面（被黑色填充），或者需要进行插值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2026年7月30日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6383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学习了图像滤波（平滑/模糊处理）：均值滤波、高斯滤波、中值滤波、双边滤波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概念基础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图像滤波</a:t>
            </a:r>
          </a:p>
          <a:p>
            <a:pPr lvl="0" indent="0" marL="0">
              <a:buNone/>
            </a:pPr>
            <a:r>
              <a:rPr/>
              <a:t>图像滤波是图像处理中的基本操作，用滤波器（也称为</a:t>
            </a:r>
            <a:r>
              <a:rPr b="1"/>
              <a:t>核</a:t>
            </a:r>
            <a:r>
              <a:rPr/>
              <a:t> kernel）对图像进行卷积操作，实现</a:t>
            </a:r>
            <a:r>
              <a:rPr b="1"/>
              <a:t>去噪</a:t>
            </a:r>
            <a:r>
              <a:rPr/>
              <a:t>、</a:t>
            </a:r>
            <a:r>
              <a:rPr b="1"/>
              <a:t>平滑</a:t>
            </a:r>
            <a:r>
              <a:rPr/>
              <a:t>、</a:t>
            </a:r>
            <a:r>
              <a:rPr b="1"/>
              <a:t>锐化</a:t>
            </a:r>
            <a:r>
              <a:rPr/>
              <a:t>等效果。</a:t>
            </a:r>
          </a:p>
          <a:p>
            <a:pPr lvl="0" indent="0" marL="0">
              <a:buNone/>
            </a:pPr>
            <a:r>
              <a:rPr b="1"/>
              <a:t>卷积操作原理</a:t>
            </a:r>
            <a:r>
              <a:rPr/>
              <a:t>：用一个小的矩阵（核）在图像上滑动，对每个像素及其邻域像素进行加权平均，得到该位置的新像素值。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滤波的分类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2959100"/>
          <a:ext cx="8229600" cy="31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分类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代表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线性滤波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输出像素是输入像素的线性加权组合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均值滤波、高斯滤波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非线性滤波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输出像素与输入像素之间非线性关系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中值滤波、双边滤波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03600"/>
            <a:ext cx="8229600" cy="1054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均值滤波（Averaging / Box Filter）</a:t>
            </a:r>
          </a:p>
          <a:p>
            <a:pPr lvl="0" indent="0" marL="0">
              <a:buNone/>
            </a:pPr>
            <a:r>
              <a:rPr/>
              <a:t>均值滤波是最简单的线性滤波方法，用核区域内所有像素的平均值替代中心像素值。</a:t>
            </a:r>
          </a:p>
          <a:p>
            <a:pPr lvl="0" indent="0" marL="0">
              <a:buNone/>
            </a:pPr>
            <a:r>
              <a:rPr b="1"/>
              <a:t>核心函数：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46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对图像进行均值滤波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ksize(核大小, 如(5,5))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new=cv2.blur(img,(5,5))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cv2.filter2D()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用自定义卷积核对图像进行卷积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ddepth(输出深度, -1同原图), kernel(卷积核)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new=cv2.filter2D(img,-1,kernel)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0700"/>
            <a:ext cx="8229600" cy="26670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核的构造：</a:t>
            </a:r>
          </a:p>
          <a:p>
            <a:pPr lvl="0" indent="0">
              <a:buNone/>
            </a:pPr>
            <a:r>
              <a:rPr>
                <a:latin typeface="Courier"/>
              </a:rPr>
              <a:t>kernel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np.ones((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), 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np.float32)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5x5均值核，所有权重均为1/25</a:t>
            </a:r>
          </a:p>
          <a:p>
            <a:pPr lvl="0"/>
            <a:r>
              <a:rPr>
                <a:latin typeface="Courier"/>
              </a:rPr>
              <a:t>cv2.blur(img, (5,5))</a:t>
            </a:r>
            <a:r>
              <a:rPr/>
              <a:t> 等价于用 5×5 的均值核对图像进行卷积</a:t>
            </a:r>
          </a:p>
          <a:p>
            <a:pPr lvl="0"/>
            <a:r>
              <a:rPr b="1"/>
              <a:t>ksize</a:t>
            </a:r>
            <a:r>
              <a:rPr/>
              <a:t> 必须是正奇数，如 (3,3)、(5,5)、(7,7) 等</a:t>
            </a:r>
          </a:p>
          <a:p>
            <a:pPr lvl="0"/>
            <a:r>
              <a:rPr b="1"/>
              <a:t>核越大</a:t>
            </a:r>
            <a:r>
              <a:rPr/>
              <a:t>，平滑效果越强，但图像越模糊，细节损失越多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kernel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np.ones((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),dtype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np.float32)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#new=cv2.blur(img,(5,5))          # 方式一：直接调用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cv2.filter2D(img,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,kernel)   </a:t>
            </a:r>
            <a:r>
              <a:rPr i="1">
                <a:solidFill>
                  <a:srgbClr val="60A0B0"/>
                </a:solidFill>
                <a:latin typeface="Courier"/>
              </a:rPr>
              <a:t># 方式二：自定义核卷积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96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高斯滤波（Gaussian Blur）</a:t>
            </a:r>
          </a:p>
          <a:p>
            <a:pPr lvl="0" indent="0" marL="0">
              <a:buNone/>
            </a:pPr>
            <a:r>
              <a:rPr/>
              <a:t>高斯滤波使用符合</a:t>
            </a:r>
            <a:r>
              <a:rPr b="1"/>
              <a:t>高斯分布</a:t>
            </a:r>
            <a:r>
              <a:rPr/>
              <a:t>的权重核进行卷积。离中心越近的像素权重越大，离中心越远的像素权重越小，因此比均值滤波更”自然”，能更好地保留边缘信息。</a:t>
            </a:r>
          </a:p>
          <a:p>
            <a:pPr lvl="0" indent="0" marL="0">
              <a:buNone/>
            </a:pPr>
            <a:r>
              <a:rPr b="1"/>
              <a:t>核心函数：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917700"/>
          <a:ext cx="8229600" cy="114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cv2.GaussianBlur()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对图像进行高斯滤波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ksize(核大小), sigmaX(X方向标准差), sigmaY(Y方向标准差)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cv2.GaussianBlur(img,(101,101),sigmaX=10.0,sigmaY=10.0)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9000"/>
            <a:ext cx="8229600" cy="22987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  <a:p>
            <a:pPr lvl="0"/>
            <a:r>
              <a:rPr b="1"/>
              <a:t>ksize</a:t>
            </a:r>
            <a:r>
              <a:rPr/>
              <a:t>：核大小，必须为正奇数。相比均值滤波，高斯滤波常用更大的核（如 101×101）来获得强平滑效果</a:t>
            </a:r>
          </a:p>
          <a:p>
            <a:pPr lvl="0"/>
            <a:r>
              <a:rPr b="1"/>
              <a:t>sigmaX / sigmaY</a:t>
            </a:r>
            <a:r>
              <a:rPr/>
              <a:t>：X/Y 方向的高斯标准差，控制权重的分布范围</a:t>
            </a:r>
          </a:p>
          <a:p>
            <a:pPr lvl="1"/>
            <a:r>
              <a:rPr/>
              <a:t>sigma 越大，权重分布越分散，平滑效果越强</a:t>
            </a:r>
          </a:p>
          <a:p>
            <a:pPr lvl="1"/>
            <a:r>
              <a:rPr>
                <a:latin typeface="Courier"/>
              </a:rPr>
              <a:t>sigmaX=sigmaY=0</a:t>
            </a:r>
            <a:r>
              <a:rPr/>
              <a:t> 时，OpenCV 会根据 ksize 自动计算 sigma</a:t>
            </a:r>
          </a:p>
          <a:p>
            <a:pPr lvl="1"/>
            <a:r>
              <a:rPr/>
              <a:t>如果只指定 sigmaX，则 sigmaY 默认与 sigmaX 相同</a:t>
            </a:r>
          </a:p>
          <a:p>
            <a:pPr lvl="0" indent="0" marL="0">
              <a:buNone/>
            </a:pPr>
            <a:r>
              <a:rPr b="1"/>
              <a:t>高斯核数学形式（一维）：</a:t>
            </a:r>
          </a:p>
          <a:p>
            <a:pPr lvl="0" indent="0">
              <a:buNone/>
            </a:pPr>
            <a:r>
              <a:rPr>
                <a:latin typeface="Courier"/>
              </a:rPr>
              <a:t>G(x) = (1 / √(2π·σ²)) · exp(-x² / (2σ²))</a:t>
            </a:r>
          </a:p>
          <a:p>
            <a:pPr lvl="0" indent="0" marL="0">
              <a:buNone/>
            </a:pPr>
            <a:r>
              <a:rPr/>
              <a:t>二维高斯核是两个一维高斯核的外积。</a:t>
            </a:r>
          </a:p>
          <a:p>
            <a:pPr lvl="0" indent="0" marL="0">
              <a:buNone/>
            </a:pPr>
            <a:r>
              <a:rPr b="1"/>
              <a:t>不同参数的效果对比：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003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ksize 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ksize 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sigma 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sigma 大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平滑弱，细节保留多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平滑强，细节模糊多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仅中心区域权重高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权重分布广，全局平滑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229600" cy="21336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cv2.GaussianBlur(img,(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101</a:t>
            </a:r>
            <a:r>
              <a:rPr>
                <a:latin typeface="Courier"/>
              </a:rPr>
              <a:t>),sigmaX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latin typeface="Courier"/>
              </a:rPr>
              <a:t>,sigmaY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10.0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46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中值滤波（Median Blur）</a:t>
            </a:r>
          </a:p>
          <a:p>
            <a:pPr lvl="0" indent="0" marL="0">
              <a:buNone/>
            </a:pPr>
            <a:r>
              <a:rPr/>
              <a:t>中值滤波是</a:t>
            </a:r>
            <a:r>
              <a:rPr b="1"/>
              <a:t>非线性滤波</a:t>
            </a:r>
            <a:r>
              <a:rPr/>
              <a:t>，用核区域内所有像素的</a:t>
            </a:r>
            <a:r>
              <a:rPr b="1"/>
              <a:t>中位数</a:t>
            </a:r>
            <a:r>
              <a:rPr/>
              <a:t>替代中心像素值。对</a:t>
            </a:r>
            <a:r>
              <a:rPr b="1"/>
              <a:t>椒盐噪声</a:t>
            </a:r>
            <a:r>
              <a:rPr/>
              <a:t>（salt-and-pepper noise）有非常好的去除效果。</a:t>
            </a:r>
          </a:p>
          <a:p>
            <a:pPr lvl="0" indent="0" marL="0">
              <a:buNone/>
            </a:pPr>
            <a:r>
              <a:rPr b="1"/>
              <a:t>核心函数：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66900"/>
          <a:ext cx="8229600" cy="10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cv2.medianBlur()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对图像进行中值滤波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ksize(核大小，必须是奇数整数)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cv2.medianBlur(img,5)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5500"/>
            <a:ext cx="8229600" cy="23622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  <a:p>
            <a:pPr lvl="0"/>
            <a:r>
              <a:rPr b="1"/>
              <a:t>ksize</a:t>
            </a:r>
            <a:r>
              <a:rPr/>
              <a:t>：核大小，</a:t>
            </a:r>
            <a:r>
              <a:rPr b="1"/>
              <a:t>必须为正奇数整数</a:t>
            </a:r>
            <a:r>
              <a:rPr/>
              <a:t>（如 3、5、7），核形状为 ksize×ksize 的正方形</a:t>
            </a:r>
          </a:p>
          <a:p>
            <a:pPr lvl="1"/>
            <a:r>
              <a:rPr/>
              <a:t>注意：此处传入的是整数（如 5），不是元组（如 (5,5)）</a:t>
            </a:r>
          </a:p>
          <a:p>
            <a:pPr lvl="0"/>
            <a:r>
              <a:rPr/>
              <a:t>ksize 越大，去噪效果越强，但图像越模糊</a:t>
            </a:r>
          </a:p>
          <a:p>
            <a:pPr lvl="0" indent="0" marL="0">
              <a:buNone/>
            </a:pPr>
            <a:r>
              <a:rPr b="1"/>
              <a:t>特点：</a:t>
            </a:r>
          </a:p>
          <a:p>
            <a:pPr lvl="0"/>
            <a:r>
              <a:rPr/>
              <a:t>✅ </a:t>
            </a:r>
            <a:r>
              <a:rPr b="1"/>
              <a:t>去椒盐噪声效果极佳</a:t>
            </a:r>
            <a:r>
              <a:rPr/>
              <a:t>：因为噪声像素通常是极端值（极亮或极暗），中位数不受极端值影响</a:t>
            </a:r>
          </a:p>
          <a:p>
            <a:pPr lvl="0"/>
            <a:r>
              <a:rPr/>
              <a:t>✅ </a:t>
            </a:r>
            <a:r>
              <a:rPr b="1"/>
              <a:t>能较好地保留边缘</a:t>
            </a:r>
            <a:r>
              <a:rPr/>
              <a:t>：不像均值滤波那样模糊边缘</a:t>
            </a:r>
          </a:p>
          <a:p>
            <a:pPr lvl="0"/>
            <a:r>
              <a:rPr/>
              <a:t>❌ 处理高斯噪声效果不如高斯滤波</a:t>
            </a:r>
          </a:p>
          <a:p>
            <a:pPr lvl="0"/>
            <a:r>
              <a:rPr/>
              <a:t>❌ 对大尺寸核计算量较大（需要对每个邻域排序）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cv2.medianBlur(img,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9050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双边滤波（Bilateral Filter）</a:t>
            </a:r>
          </a:p>
          <a:p>
            <a:pPr lvl="0" indent="0" marL="0">
              <a:buNone/>
            </a:pPr>
            <a:r>
              <a:rPr/>
              <a:t>双边滤波是</a:t>
            </a:r>
            <a:r>
              <a:rPr b="1"/>
              <a:t>非线性、保边去噪</a:t>
            </a:r>
            <a:r>
              <a:rPr/>
              <a:t>的滤波方法。它同时考虑</a:t>
            </a:r>
            <a:r>
              <a:rPr b="1"/>
              <a:t>空间邻近度</a:t>
            </a:r>
            <a:r>
              <a:rPr/>
              <a:t>和</a:t>
            </a:r>
            <a:r>
              <a:rPr b="1"/>
              <a:t>像素值相似度</a:t>
            </a:r>
            <a:r>
              <a:rPr/>
              <a:t>，因此能在平滑噪声的同时保留边缘。</a:t>
            </a:r>
          </a:p>
          <a:p>
            <a:pPr lvl="0" indent="0" marL="0">
              <a:buNone/>
            </a:pPr>
            <a:r>
              <a:rPr b="1"/>
              <a:t>核心函数：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225800"/>
          <a:ext cx="8229600" cy="54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cv2.bilateralFilter()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对图像进行双边滤波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d(邻域直径), sigmaColor(颜色空间标准差), sigmaSpace(空间坐标标准差)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cv2.bilateralFilter(img,10,20,30)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98900"/>
            <a:ext cx="8229600" cy="5461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54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5400"/>
                <a:gridCol w="3086100"/>
                <a:gridCol w="2565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越大则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滤波时考虑的邻域直径（像素距离）。若 ≤0，则由 sigmaSpace 自动计算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考虑范围越广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sigmaColor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颜色空间标准差。控制像素值差异对权重的影响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颜色差异大的像素也会参与平滑→颜色边缘被模糊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sigmaSpace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空间坐标标准差。控制空间距离对权重的影响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远处的像素也会参与平滑→更多模糊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66900"/>
            <a:ext cx="8229600" cy="2590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工作原理（双重权重）：</a:t>
            </a:r>
          </a:p>
          <a:p>
            <a:pPr lvl="0" indent="0" marL="0">
              <a:buNone/>
            </a:pPr>
            <a:r>
              <a:rPr/>
              <a:t>双边滤波的权重 = 空间权重 × 颜色权重</a:t>
            </a:r>
          </a:p>
          <a:p>
            <a:pPr lvl="0" indent="0">
              <a:buNone/>
            </a:pPr>
            <a:r>
              <a:rPr>
                <a:latin typeface="Courier"/>
              </a:rPr>
              <a:t>权重 = exp(-||p-q||²/(2σ_space²)) × exp(-|I(p)-I(q)|²/(2σ_color²))
       └───── 空间高斯权重 ─────┘   └───── 颜色高斯权重 ─────┘</a:t>
            </a:r>
          </a:p>
          <a:p>
            <a:pPr lvl="0"/>
            <a:r>
              <a:rPr b="1"/>
              <a:t>空间权重</a:t>
            </a:r>
            <a:r>
              <a:rPr/>
              <a:t>：与高斯滤波相同，距离中心越近权重越大</a:t>
            </a:r>
          </a:p>
          <a:p>
            <a:pPr lvl="0"/>
            <a:r>
              <a:rPr b="1"/>
              <a:t>颜色权重</a:t>
            </a:r>
            <a:r>
              <a:rPr/>
              <a:t>：像素值与中心像素值越接近权重越大；差异大的像素（如边缘两侧）权重很小</a:t>
            </a:r>
          </a:p>
          <a:p>
            <a:pPr lvl="0"/>
            <a:r>
              <a:rPr/>
              <a:t>因此：</a:t>
            </a:r>
            <a:r>
              <a:rPr b="1"/>
              <a:t>平坦区域</a:t>
            </a:r>
            <a:r>
              <a:rPr/>
              <a:t> → 空间+颜色权重都高 → 平滑效果好；</a:t>
            </a:r>
            <a:r>
              <a:rPr b="1"/>
              <a:t>边缘区域</a:t>
            </a:r>
            <a:r>
              <a:rPr/>
              <a:t> → 颜色权重低 → 边缘得以保留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new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cv2.bilateralFilter(img,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,new)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762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总结：四种滤波方法对比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397000"/>
          <a:ext cx="822960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371600"/>
                <a:gridCol w="1371600"/>
                <a:gridCol w="1143000"/>
                <a:gridCol w="1143000"/>
                <a:gridCol w="1143000"/>
                <a:gridCol w="914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滤波方法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核心函数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核形状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去噪效果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保边能力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均值滤波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线性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矩形，等权重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★★☆☆☆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★☆☆☆☆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简单平滑，快速去噪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高斯滤波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线性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cv2.GaussianBlur()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矩形，高斯权重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★★★☆☆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★★☆☆☆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通用平滑，高斯噪声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中值滤波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非线性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cv2.medianBlur()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矩形，取中位数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★★★★☆(椒盐)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★★★★☆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椒盐噪声</a:t>
                      </a:r>
                      <a:r>
                        <a:rPr/>
                        <a:t>首选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双边滤波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非线性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cv2.bilateralFilter()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双重权重(空间+颜色)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★★★★☆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★★★★★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 b="1"/>
                        <a:t>保边去噪</a:t>
                      </a:r>
                      <a:r>
                        <a:rPr/>
                        <a:t>，人像美化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25400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思路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线性滤波 vs 非线性滤波</a:t>
            </a:r>
          </a:p>
          <a:p>
            <a:pPr lvl="0"/>
            <a:r>
              <a:rPr b="1"/>
              <a:t>线性滤波</a:t>
            </a:r>
            <a:r>
              <a:rPr/>
              <a:t>（均值、高斯）：可以用 </a:t>
            </a:r>
            <a:r>
              <a:rPr>
                <a:latin typeface="Courier"/>
              </a:rPr>
              <a:t>cv2.filter2D()</a:t>
            </a:r>
            <a:r>
              <a:rPr/>
              <a:t> 自定义任意卷积核实现，输出是输入的线性组合</a:t>
            </a:r>
          </a:p>
          <a:p>
            <a:pPr lvl="0"/>
            <a:r>
              <a:rPr b="1"/>
              <a:t>非线性滤波</a:t>
            </a:r>
            <a:r>
              <a:rPr/>
              <a:t>（中值、双边）：不能用简单卷积表示，输出与输入之间是</a:t>
            </a:r>
            <a:r>
              <a:rPr b="1"/>
              <a:t>非线性的</a:t>
            </a:r>
            <a:r>
              <a:rPr/>
              <a:t>关系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滤波参数的直观理解</a:t>
            </a:r>
          </a:p>
          <a:p>
            <a:pPr lvl="0"/>
            <a:r>
              <a:rPr b="1"/>
              <a:t>核大小</a:t>
            </a:r>
            <a:r>
              <a:rPr/>
              <a:t>：决定”用多大范围的邻居来估计当前像素”。越大→越模糊但计算越慢</a:t>
            </a:r>
          </a:p>
          <a:p>
            <a:pPr lvl="0"/>
            <a:r>
              <a:rPr b="1"/>
              <a:t>sigma（高斯/双边）</a:t>
            </a:r>
            <a:r>
              <a:rPr/>
              <a:t>：决定”多远的邻居/多大的颜色差异仍然参与计算”。越大→平滑越强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边缘保留的重要性</a:t>
            </a:r>
          </a:p>
          <a:p>
            <a:pPr lvl="0"/>
            <a:r>
              <a:rPr/>
              <a:t>均值滤波和高斯滤波在去噪的同时也会模糊边缘，导致图像</a:t>
            </a:r>
            <a:r>
              <a:rPr b="1"/>
              <a:t>细节丢失</a:t>
            </a:r>
          </a:p>
          <a:p>
            <a:pPr lvl="0"/>
            <a:r>
              <a:rPr/>
              <a:t>中值滤波和双边滤波在去噪时能较好地保留边缘，适合需要保持图像清晰度的场景</a:t>
            </a:r>
          </a:p>
          <a:p>
            <a:pPr lvl="0"/>
            <a:r>
              <a:rPr/>
              <a:t>双边滤波在</a:t>
            </a:r>
            <a:r>
              <a:rPr b="1"/>
              <a:t>人像美化</a:t>
            </a:r>
            <a:r>
              <a:rPr/>
              <a:t>、</a:t>
            </a:r>
            <a:r>
              <a:rPr b="1"/>
              <a:t>美颜</a:t>
            </a:r>
            <a:r>
              <a:rPr/>
              <a:t>中广泛使用——去噪的同时保持皮肤边缘清晰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何时使用哪种滤波？</a:t>
            </a:r>
          </a:p>
          <a:p>
            <a:pPr lvl="0" indent="0">
              <a:buNone/>
            </a:pPr>
            <a:r>
              <a:rPr>
                <a:latin typeface="Courier"/>
              </a:rPr>
              <a:t>图像包含椒盐噪声 → 中值滤波 (medianBlur)
图像包含高斯噪声 → 高斯滤波 (GaussianBlur)
需要快速简单的平滑 → 均值滤波 (blur)
需要保边去噪/美颜效果 → 双边滤波 (bilateralFilter)
需要自定义卷积操作 → filter2D (通用卷积)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2026年7月31日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057400"/>
          </a:xfrm>
        </p:spPr>
        <p:txBody>
          <a:bodyPr/>
          <a:lstStyle/>
          <a:p>
            <a:pPr lvl="0" indent="0" marL="1270000">
              <a:buNone/>
            </a:pPr>
            <a:r>
              <a:rPr sz="2000"/>
              <a:t>学习了图像的边缘检测：Sobel 算子、Laplacian 算子、Canny 算法，这是图像分割与特征提取的基础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概念基础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什么是图像边缘</a:t>
            </a:r>
          </a:p>
          <a:p>
            <a:pPr lvl="0" indent="0" marL="0">
              <a:buNone/>
            </a:pPr>
            <a:r>
              <a:rPr b="1"/>
              <a:t>边缘</a:t>
            </a:r>
            <a:r>
              <a:rPr/>
              <a:t>是图像中灰度值发生剧烈变化的像素集合，通常对应物体的</a:t>
            </a:r>
            <a:r>
              <a:rPr b="1"/>
              <a:t>轮廓</a:t>
            </a:r>
            <a:r>
              <a:rPr/>
              <a:t>、</a:t>
            </a:r>
            <a:r>
              <a:rPr b="1"/>
              <a:t>边界</a:t>
            </a:r>
            <a:r>
              <a:rPr/>
              <a:t>，是图像最基本的特征之一。边缘检测的目的就是把”变化剧烈的地方”找出来。</a:t>
            </a:r>
          </a:p>
          <a:p>
            <a:pPr lvl="0" indent="0" marL="0">
              <a:buNone/>
            </a:pPr>
            <a:r>
              <a:rPr b="1"/>
              <a:t>为什么边缘重要：</a:t>
            </a:r>
          </a:p>
          <a:p>
            <a:pPr lvl="0"/>
            <a:r>
              <a:rPr/>
              <a:t>边缘包含了图像的大部分结构信息（轮廓、形状）</a:t>
            </a:r>
          </a:p>
          <a:p>
            <a:pPr lvl="0"/>
            <a:r>
              <a:rPr/>
              <a:t>去掉边缘之外的内容，人眼依然能认出图像的大致内容</a:t>
            </a:r>
          </a:p>
          <a:p>
            <a:pPr lvl="0"/>
            <a:r>
              <a:rPr/>
              <a:t>边缘检测是</a:t>
            </a:r>
            <a:r>
              <a:rPr b="1"/>
              <a:t>目标识别</a:t>
            </a:r>
            <a:r>
              <a:rPr/>
              <a:t>、</a:t>
            </a:r>
            <a:r>
              <a:rPr b="1"/>
              <a:t>图像分割</a:t>
            </a:r>
            <a:r>
              <a:rPr/>
              <a:t>、</a:t>
            </a:r>
            <a:r>
              <a:rPr b="1"/>
              <a:t>特征提取</a:t>
            </a:r>
            <a:r>
              <a:rPr/>
              <a:t>的前置步骤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数学基础：导数与边缘</a:t>
            </a:r>
          </a:p>
          <a:p>
            <a:pPr lvl="0" indent="0" marL="0">
              <a:buNone/>
            </a:pPr>
            <a:r>
              <a:rPr/>
              <a:t>边缘在数学上对应</a:t>
            </a:r>
            <a:r>
              <a:rPr b="1"/>
              <a:t>灰度函数的变化率</a:t>
            </a:r>
            <a:r>
              <a:rPr/>
              <a:t>：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3378200"/>
          <a:ext cx="8229600" cy="20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概念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与边缘的关系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一阶导数（梯度）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灰度沿某方向的变化率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边缘处梯度幅值大，平坦处接近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二阶导数（拉普拉斯）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一阶导数的变化率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边缘处二阶导数过零点（正↔负）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08400"/>
            <a:ext cx="8229600" cy="749300"/>
          </a:xfrm>
        </p:spPr>
        <p:txBody>
          <a:bodyPr/>
          <a:lstStyle/>
          <a:p>
            <a:pPr lvl="0"/>
            <a:r>
              <a:rPr b="1"/>
              <a:t>一阶方法</a:t>
            </a:r>
            <a:r>
              <a:rPr/>
              <a:t>：找到梯度幅值 </a:t>
            </a:r>
            <a:r>
              <a:rPr>
                <a:latin typeface="Courier"/>
              </a:rPr>
              <a:t>|G| = √(Gx² + Gy²)</a:t>
            </a:r>
            <a:r>
              <a:rPr/>
              <a:t> 较大的像素 → Sobel</a:t>
            </a:r>
          </a:p>
          <a:p>
            <a:pPr lvl="0"/>
            <a:r>
              <a:rPr b="1"/>
              <a:t>二阶方法</a:t>
            </a:r>
            <a:r>
              <a:rPr/>
              <a:t>：找到二阶导数为 0（过零点）的像素 → Laplacian</a:t>
            </a:r>
          </a:p>
          <a:p>
            <a:pPr lvl="0"/>
            <a:r>
              <a:rPr b="1"/>
              <a:t>综合方法</a:t>
            </a:r>
            <a:r>
              <a:rPr/>
              <a:t>：滤波 + 梯度 + 非极大值抑制 + 双阈值，多阶段优化 → Canny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边缘检测方法分类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类别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代表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特点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一阶微分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梯度幅值取极大值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Sobel / Scharr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实现简单，速度快，边缘较粗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二阶微分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二阶导数过零点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Laplacian / LoG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各向同性，对噪声敏感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多阶段综合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滤波+梯度+NMS+双阈值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边缘细且连续，效果最好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552700"/>
            <a:ext cx="8229600" cy="19050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编程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Sobel 算子</a:t>
            </a:r>
          </a:p>
          <a:p>
            <a:pPr lvl="0" indent="0" marL="0">
              <a:buNone/>
            </a:pPr>
            <a:r>
              <a:rPr/>
              <a:t>Sobel 算子是最常用的</a:t>
            </a:r>
            <a:r>
              <a:rPr b="1"/>
              <a:t>一阶微分</a:t>
            </a:r>
            <a:r>
              <a:rPr/>
              <a:t>边缘检测算子，核心思想：</a:t>
            </a:r>
            <a:r>
              <a:rPr b="1"/>
              <a:t>对图像求导（卷积），导数大的地方就是边缘</a:t>
            </a:r>
            <a:r>
              <a:rPr/>
              <a:t>。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-1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cv2.Sobel()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 Sobel 求导，计算梯度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ddepth(输出深度), dx(x方向求导阶数), dy(y方向求导阶数), ksize(核大小)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cv2.Sobel(img,-1,1,0,ksize=-1)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8100"/>
            <a:ext cx="8229600" cy="31496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  <a:p>
            <a:pPr lvl="0"/>
            <a:r>
              <a:rPr b="1"/>
              <a:t>ddepth</a:t>
            </a:r>
            <a:r>
              <a:rPr/>
              <a:t>：输出图像的深度</a:t>
            </a:r>
          </a:p>
          <a:p>
            <a:pPr lvl="1"/>
            <a:r>
              <a:rPr>
                <a:latin typeface="Courier"/>
              </a:rPr>
              <a:t>-1</a:t>
            </a:r>
            <a:r>
              <a:rPr/>
              <a:t>：与输入图像相同（输入是 uint8 则输出也是 uint8）</a:t>
            </a:r>
          </a:p>
          <a:p>
            <a:pPr lvl="1"/>
            <a:r>
              <a:rPr>
                <a:latin typeface="Courier"/>
              </a:rPr>
              <a:t>cv2.CV_64F</a:t>
            </a:r>
            <a:r>
              <a:rPr/>
              <a:t> / </a:t>
            </a:r>
            <a:r>
              <a:rPr>
                <a:latin typeface="Courier"/>
              </a:rPr>
              <a:t>cv2.CV_32F</a:t>
            </a:r>
            <a:r>
              <a:rPr/>
              <a:t>：浮点深度，</a:t>
            </a:r>
            <a:r>
              <a:rPr b="1"/>
              <a:t>可以表示负数</a:t>
            </a:r>
            <a:r>
              <a:rPr/>
              <a:t>（求导推荐）</a:t>
            </a:r>
          </a:p>
          <a:p>
            <a:pPr lvl="0"/>
            <a:r>
              <a:rPr b="1"/>
              <a:t>dx / dy</a:t>
            </a:r>
            <a:r>
              <a:rPr/>
              <a:t>：求导的阶数组合</a:t>
            </a:r>
          </a:p>
          <a:p>
            <a:pPr lvl="1"/>
            <a:r>
              <a:rPr>
                <a:latin typeface="Courier"/>
              </a:rPr>
              <a:t>dx=1, dy=0</a:t>
            </a:r>
            <a:r>
              <a:rPr/>
              <a:t>：对 x 方向求一阶导 → 检测</a:t>
            </a:r>
            <a:r>
              <a:rPr b="1"/>
              <a:t>垂直边缘</a:t>
            </a:r>
          </a:p>
          <a:p>
            <a:pPr lvl="1"/>
            <a:r>
              <a:rPr>
                <a:latin typeface="Courier"/>
              </a:rPr>
              <a:t>dx=0, dy=1</a:t>
            </a:r>
            <a:r>
              <a:rPr/>
              <a:t>：对 y 方向求一阶导 → 检测</a:t>
            </a:r>
            <a:r>
              <a:rPr b="1"/>
              <a:t>水平边缘</a:t>
            </a:r>
          </a:p>
          <a:p>
            <a:pPr lvl="1"/>
            <a:r>
              <a:rPr/>
              <a:t>dx 和 dy 不能同时为 0</a:t>
            </a:r>
          </a:p>
          <a:p>
            <a:pPr lvl="0"/>
            <a:r>
              <a:rPr b="1"/>
              <a:t>ksize</a:t>
            </a:r>
            <a:r>
              <a:rPr/>
              <a:t>：核大小，必须为正奇数（1、3、5、7）</a:t>
            </a:r>
          </a:p>
          <a:p>
            <a:pPr lvl="1"/>
            <a:r>
              <a:rPr>
                <a:latin typeface="Courier"/>
              </a:rPr>
              <a:t>ksize=-1</a:t>
            </a:r>
            <a:r>
              <a:rPr/>
              <a:t>：使用 </a:t>
            </a:r>
            <a:r>
              <a:rPr b="1"/>
              <a:t>Scharr 算子</a:t>
            </a:r>
            <a:r>
              <a:rPr/>
              <a:t>（3×3），权重系数更大，对梯度的响应更强、更精确</a:t>
            </a:r>
          </a:p>
          <a:p>
            <a:pPr lvl="0" indent="0" marL="0">
              <a:buNone/>
            </a:pPr>
            <a:r>
              <a:rPr b="1"/>
              <a:t>Sobel 3×3 卷积核：</a:t>
            </a:r>
          </a:p>
          <a:p>
            <a:pPr lvl="0" indent="0">
              <a:buNone/>
            </a:pPr>
            <a:r>
              <a:rPr>
                <a:latin typeface="Courier"/>
              </a:rPr>
              <a:t>Gx（x方向求导，检测垂直边缘）      Gy（y方向求导，检测水平边缘）
[-1  0  1]                         [-1 -2 -1]
[-2  0  2]                         [ 0  0  0]
[-1  0  1]                         [ 1  2  1]</a:t>
            </a:r>
          </a:p>
          <a:p>
            <a:pPr lvl="0"/>
            <a:r>
              <a:rPr/>
              <a:t>Gx 中间列为 0：只对左右邻域做差，响应左右灰度突变（垂直边缘）</a:t>
            </a:r>
          </a:p>
          <a:p>
            <a:pPr lvl="0"/>
            <a:r>
              <a:rPr/>
              <a:t>权重 2 是给中心像素加权，自带一点</a:t>
            </a:r>
            <a:r>
              <a:rPr b="1"/>
              <a:t>平滑噪声</a:t>
            </a:r>
            <a:r>
              <a:rPr/>
              <a:t>的作用，这是 Sobel 比简单差分核（如 [1,0,-1]）更稳定的原因</a:t>
            </a:r>
          </a:p>
          <a:p>
            <a:pPr lvl="0" indent="0" marL="0">
              <a:buNone/>
            </a:pPr>
            <a:r>
              <a:rPr b="1"/>
              <a:t>Scharr 3×3 卷积核（ksize=-1）：</a:t>
            </a:r>
          </a:p>
          <a:p>
            <a:pPr lvl="0" indent="0">
              <a:buNone/>
            </a:pPr>
            <a:r>
              <a:rPr>
                <a:latin typeface="Courier"/>
              </a:rPr>
              <a:t>Gx                                   Gy
[-3   0  3]                          [-3 -10 -3]
[-10  0 10]                          [ 0   0   0]
[-3   0  3]                          [ 3  10   3]</a:t>
            </a:r>
          </a:p>
          <a:p>
            <a:pPr lvl="0" indent="0" marL="0">
              <a:buNone/>
            </a:pPr>
            <a:r>
              <a:rPr b="1"/>
              <a:t>梯度幅值计算：</a:t>
            </a:r>
          </a:p>
          <a:p>
            <a:pPr lvl="0" indent="0">
              <a:buNone/>
            </a:pPr>
            <a:r>
              <a:rPr>
                <a:latin typeface="Courier"/>
              </a:rPr>
              <a:t>|G| = √(Gx² + Gy²)      精确计算
|G| ≈ |Gx| + |Gy|       近似计算（代码中用 cv2.add(x, y) 实现）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'Pic/Pic.png'</a:t>
            </a:r>
            <a:r>
              <a:rPr>
                <a:latin typeface="Courier"/>
              </a:rPr>
              <a:t>)</a:t>
            </a:r>
            <a:r>
              <a:rPr i="1">
                <a:solidFill>
                  <a:srgbClr val="60A0B0"/>
                </a:solidFill>
                <a:latin typeface="Courier"/>
              </a:rPr>
              <a:t>#uint 8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#dx=1,dy=0：求x方向导数；ksize=-1：使用Scharr算子</a:t>
            </a:r>
            <a:br/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Sob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cv2.Sobel(img,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Sob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cv2.Sobel(img,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#用add把两个方向的梯度相加（超过255截断为255）</a:t>
            </a:r>
            <a:br/>
            <a:r>
              <a:rPr>
                <a:latin typeface="Courier"/>
              </a:rPr>
              <a:t>dst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cv2.add(x,y)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,dst)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buNone/>
            </a:pPr>
            <a:r>
              <a:rPr b="1"/>
              <a:t>这段代码的问题（为什么效果”只有一半”）：</a:t>
            </a:r>
          </a:p>
          <a:p>
            <a:pPr lvl="0"/>
            <a:r>
              <a:rPr>
                <a:latin typeface="Courier"/>
              </a:rPr>
              <a:t>ddepth=-1</a:t>
            </a:r>
            <a:r>
              <a:rPr/>
              <a:t> 意味着输出还是 </a:t>
            </a:r>
            <a:r>
              <a:rPr b="1"/>
              <a:t>uint8</a:t>
            </a:r>
            <a:r>
              <a:rPr/>
              <a:t>，而梯度值有正有负（由暗到亮是正，由亮到暗是负），uint8 存不下负数，负值全被</a:t>
            </a:r>
            <a:r>
              <a:rPr b="1"/>
              <a:t>截断成 0</a:t>
            </a:r>
          </a:p>
          <a:p>
            <a:pPr lvl="0"/>
            <a:r>
              <a:rPr/>
              <a:t>结果只能看到”由暗到亮”的边缘（正梯度），“由亮到暗”的边缘丢失了</a:t>
            </a:r>
          </a:p>
          <a:p>
            <a:pPr lvl="0"/>
            <a:r>
              <a:rPr>
                <a:latin typeface="Courier"/>
              </a:rPr>
              <a:t>cv2.add(x, y)</a:t>
            </a:r>
            <a:r>
              <a:rPr/>
              <a:t> 只是把两个方向的截断结果相加，并没有还原被截断的信息</a:t>
            </a:r>
          </a:p>
          <a:p>
            <a:pPr lvl="0" indent="0" marL="0">
              <a:buNone/>
            </a:pPr>
            <a:r>
              <a:rPr b="1"/>
              <a:t>改进写法（保留正负梯度）：</a:t>
            </a:r>
          </a:p>
          <a:p>
            <a:pPr lvl="0" indent="0">
              <a:buNone/>
            </a:pPr>
            <a:r>
              <a:rPr>
                <a:latin typeface="Courier"/>
              </a:rPr>
              <a:t>gx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cv2.Sobel(img,cv2.CV_64F,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# 用CV_64F保留负数</a:t>
            </a:r>
            <a:br/>
            <a:r>
              <a:rPr>
                <a:latin typeface="Courier"/>
              </a:rPr>
              <a:t>gy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cv2.Sobel(img,cv2.CV_64F,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mag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cv2.addWeighted(cv2.convertScaleAbs(gx),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,cv2.convertScaleAbs(gy),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convertScaleAbs：取绝对值并转回uint8，正负边缘都能显示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addWeighted：按权重叠加两个方向（各占一半），比add更灵活</a:t>
            </a:r>
          </a:p>
          <a:p>
            <a:pPr lvl="0"/>
            <a:r>
              <a:rPr>
                <a:latin typeface="Courier"/>
              </a:rPr>
              <a:t>cv2.convertScaleAbs()</a:t>
            </a:r>
            <a:r>
              <a:rPr/>
              <a:t>：对 CV_64F 取绝对值，再转回 uint8</a:t>
            </a:r>
          </a:p>
          <a:p>
            <a:pPr lvl="0"/>
            <a:r>
              <a:rPr>
                <a:latin typeface="Courier"/>
              </a:rPr>
              <a:t>cv2.addWeighted()</a:t>
            </a:r>
            <a:r>
              <a:rPr/>
              <a:t>：按权重把 x、y 两个方向的梯度叠加</a:t>
            </a:r>
          </a:p>
          <a:p>
            <a:pPr lvl="0"/>
            <a:r>
              <a:rPr/>
              <a:t>顺带一提：</a:t>
            </a:r>
            <a:r>
              <a:rPr>
                <a:latin typeface="Courier"/>
              </a:rPr>
              <a:t>x=Sob=cv2.Sobel(...)</a:t>
            </a:r>
            <a:r>
              <a:rPr/>
              <a:t> 是</a:t>
            </a:r>
            <a:r>
              <a:rPr b="1"/>
              <a:t>链式赋值</a:t>
            </a:r>
            <a:r>
              <a:rPr/>
              <a:t>，x 和 Sob 两个名字指向同一份数据，一般只用一个变量名即可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215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Laplacian 算子</a:t>
            </a:r>
          </a:p>
          <a:p>
            <a:pPr lvl="0" indent="0" marL="0">
              <a:buNone/>
            </a:pPr>
            <a:r>
              <a:rPr/>
              <a:t>Laplacian 算子是一种</a:t>
            </a:r>
            <a:r>
              <a:rPr b="1"/>
              <a:t>二阶微分</a:t>
            </a:r>
            <a:r>
              <a:rPr/>
              <a:t>边缘检测算子，直接对图像求</a:t>
            </a:r>
            <a:r>
              <a:rPr b="1"/>
              <a:t>二阶导数</a:t>
            </a:r>
            <a:r>
              <a:rPr/>
              <a:t>。边缘处的二阶导数</a:t>
            </a:r>
            <a:r>
              <a:rPr b="1"/>
              <a:t>过零点</a:t>
            </a:r>
            <a:r>
              <a:rPr/>
              <a:t>（由正变负或由负变正）。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536700"/>
          <a:ext cx="8229600" cy="38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cv2.Laplacian()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对图像进行拉普拉斯二阶求导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原图, ddepth(输出深度), ksize(核大小)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cv2.Laplacian(img,-1,ksize=3)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1800"/>
            <a:ext cx="8229600" cy="2755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  <a:p>
            <a:pPr lvl="0"/>
            <a:r>
              <a:rPr b="1"/>
              <a:t>ddepth</a:t>
            </a:r>
            <a:r>
              <a:rPr/>
              <a:t>：输出深度，同上，</a:t>
            </a:r>
            <a:r>
              <a:rPr>
                <a:latin typeface="Courier"/>
              </a:rPr>
              <a:t>-1</a:t>
            </a:r>
            <a:r>
              <a:rPr/>
              <a:t> 表示与输入相同（同样有负数截断问题）</a:t>
            </a:r>
          </a:p>
          <a:p>
            <a:pPr lvl="0"/>
            <a:r>
              <a:rPr b="1"/>
              <a:t>ksize</a:t>
            </a:r>
            <a:r>
              <a:rPr/>
              <a:t>：核大小，必须为正奇数（1、3、5、7）；</a:t>
            </a:r>
            <a:r>
              <a:rPr b="1"/>
              <a:t>ksize=1 时使用 3×3 核</a:t>
            </a:r>
          </a:p>
          <a:p>
            <a:pPr lvl="0" indent="0" marL="0">
              <a:buNone/>
            </a:pPr>
            <a:r>
              <a:rPr b="1"/>
              <a:t>3×3 拉普拉斯核：</a:t>
            </a:r>
          </a:p>
          <a:p>
            <a:pPr lvl="0" indent="0">
              <a:buNone/>
            </a:pPr>
            <a:r>
              <a:rPr>
                <a:latin typeface="Courier"/>
              </a:rPr>
              <a:t>      [ 0  1  0]
      [ 1 -4  1]
      [ 0  1  0]</a:t>
            </a:r>
          </a:p>
          <a:p>
            <a:pPr lvl="0" indent="0" marL="0">
              <a:buNone/>
            </a:pPr>
            <a:r>
              <a:rPr b="1"/>
              <a:t>特点：</a:t>
            </a:r>
          </a:p>
          <a:p>
            <a:pPr lvl="0"/>
            <a:r>
              <a:rPr/>
              <a:t>✅ </a:t>
            </a:r>
            <a:r>
              <a:rPr b="1"/>
              <a:t>各向同性（旋转不变）</a:t>
            </a:r>
            <a:r>
              <a:rPr/>
              <a:t>：核关于中心对称，不需要像 Sobel 那样分别求 x、y 方向，一次卷积就能检测所有方向的边缘</a:t>
            </a:r>
          </a:p>
          <a:p>
            <a:pPr lvl="0"/>
            <a:r>
              <a:rPr/>
              <a:t>✅ 实现简单，速度与 Sobel 相当</a:t>
            </a:r>
          </a:p>
          <a:p>
            <a:pPr lvl="0"/>
            <a:r>
              <a:rPr/>
              <a:t>❌ </a:t>
            </a:r>
            <a:r>
              <a:rPr b="1"/>
              <a:t>对噪声非常敏感</a:t>
            </a:r>
            <a:r>
              <a:rPr/>
              <a:t>：噪声点的灰度突变同样会被二阶导放大，所以实际使用前一般先做高斯滤波</a:t>
            </a:r>
          </a:p>
          <a:p>
            <a:pPr lvl="0"/>
            <a:r>
              <a:rPr/>
              <a:t>❌ 边缘两侧会产生一正一负的”双响应”，不如 Canny 干净</a:t>
            </a:r>
          </a:p>
          <a:p>
            <a:pPr lvl="0" indent="0" marL="0">
              <a:buNone/>
            </a:pPr>
            <a:r>
              <a:rPr b="1"/>
              <a:t>高斯-拉普拉斯（LoG）：</a:t>
            </a:r>
            <a:r>
              <a:rPr/>
              <a:t> 先 </a:t>
            </a:r>
            <a:r>
              <a:rPr>
                <a:latin typeface="Courier"/>
              </a:rPr>
              <a:t>cv2.GaussianBlur</a:t>
            </a:r>
            <a:r>
              <a:rPr/>
              <a:t> 去噪，再 </a:t>
            </a:r>
            <a:r>
              <a:rPr>
                <a:latin typeface="Courier"/>
              </a:rPr>
              <a:t>cv2.Laplacian</a:t>
            </a:r>
            <a:r>
              <a:rPr/>
              <a:t> 求导，两者组合就是 LoG，可以大幅减轻噪声影响。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'Pic/Camera0.png'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#直接对彩色图求拉普拉斯：BGR三个通道分别卷积再合成显示</a:t>
            </a:r>
            <a:br/>
            <a:r>
              <a:rPr>
                <a:latin typeface="Courier"/>
              </a:rPr>
              <a:t>lap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cv2.Laplacian(img,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cv2.imwrite(</a:t>
            </a:r>
            <a:r>
              <a:rPr>
                <a:solidFill>
                  <a:srgbClr val="4070A0"/>
                </a:solidFill>
                <a:latin typeface="Courier"/>
              </a:rPr>
              <a:t>'Pic/pic3.png'</a:t>
            </a:r>
            <a:r>
              <a:rPr>
                <a:latin typeface="Courier"/>
              </a:rPr>
              <a:t>,lap)   </a:t>
            </a:r>
            <a:r>
              <a:rPr i="1">
                <a:solidFill>
                  <a:srgbClr val="60A0B0"/>
                </a:solidFill>
                <a:latin typeface="Courier"/>
              </a:rPr>
              <a:t>#把结果保存到文件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,lap)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buNone/>
            </a:pPr>
            <a:r>
              <a:rPr b="1"/>
              <a:t>注意：</a:t>
            </a:r>
          </a:p>
          <a:p>
            <a:pPr lvl="0"/>
            <a:r>
              <a:rPr/>
              <a:t>这里直接对</a:t>
            </a:r>
            <a:r>
              <a:rPr b="1"/>
              <a:t>彩色图</a:t>
            </a:r>
            <a:r>
              <a:rPr/>
              <a:t>求拉普拉斯：OpenCV 会分别对 B、G、R 三个通道做卷积再合成，效果与逐通道处理相同</a:t>
            </a:r>
          </a:p>
          <a:p>
            <a:pPr lvl="0"/>
            <a:r>
              <a:rPr>
                <a:latin typeface="Courier"/>
              </a:rPr>
              <a:t>cv2.imwrite</a:t>
            </a:r>
            <a:r>
              <a:rPr/>
              <a:t> 是之前学过的保存函数，这里把处理结果保存成 </a:t>
            </a:r>
            <a:r>
              <a:rPr>
                <a:latin typeface="Courier"/>
              </a:rPr>
              <a:t>Pic/pic3.png</a:t>
            </a:r>
          </a:p>
          <a:p>
            <a:pPr lvl="0"/>
            <a:r>
              <a:rPr/>
              <a:t>同样有 </a:t>
            </a:r>
            <a:r>
              <a:rPr>
                <a:latin typeface="Courier"/>
              </a:rPr>
              <a:t>ddepth=-1</a:t>
            </a:r>
            <a:r>
              <a:rPr/>
              <a:t> 的截断问题，改进方法与 Sobel 相同：</a:t>
            </a:r>
            <a:r>
              <a:rPr>
                <a:latin typeface="Courier"/>
              </a:rPr>
              <a:t>cv2.Laplacian(img,cv2.CV_64F,ksize=3)</a:t>
            </a:r>
            <a:r>
              <a:rPr/>
              <a:t> 后接 </a:t>
            </a:r>
            <a:r>
              <a:rPr>
                <a:latin typeface="Courier"/>
              </a:rPr>
              <a:t>cv2.convertScaleAbs()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1524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Canny 边缘检测</a:t>
            </a:r>
          </a:p>
          <a:p>
            <a:pPr lvl="0" indent="0" marL="0">
              <a:buNone/>
            </a:pPr>
            <a:r>
              <a:rPr/>
              <a:t>Canny 算法是目前</a:t>
            </a:r>
            <a:r>
              <a:rPr b="1"/>
              <a:t>最经典、最常用</a:t>
            </a:r>
            <a:r>
              <a:rPr/>
              <a:t>的边缘检测算法，由 John Canny 于 1986 年提出。它不是单一的算子，而是</a:t>
            </a:r>
            <a:r>
              <a:rPr b="1"/>
              <a:t>多阶段处理流程</a:t>
            </a:r>
            <a:r>
              <a:rPr/>
              <a:t>，目标是最小化漏检率和误检率，输出</a:t>
            </a:r>
            <a:r>
              <a:rPr b="1"/>
              <a:t>单像素宽、连续</a:t>
            </a:r>
            <a:r>
              <a:rPr/>
              <a:t>的边缘。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473200"/>
          <a:ext cx="8229600" cy="1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828800"/>
                <a:gridCol w="1524000"/>
                <a:gridCol w="2133600"/>
                <a:gridCol w="12192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返回值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样例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cv2.Canny()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执行 Canny 边缘检测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image(单通道8位图), threshold1(低阈值), threshold2(高阈值)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cv2.Canny(gray,90,150)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2900"/>
            <a:ext cx="8229600" cy="28448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参数说明：</a:t>
            </a:r>
          </a:p>
          <a:p>
            <a:pPr lvl="0"/>
            <a:r>
              <a:rPr b="1"/>
              <a:t>image</a:t>
            </a:r>
            <a:r>
              <a:rPr/>
              <a:t>：输入图像，</a:t>
            </a:r>
            <a:r>
              <a:rPr b="1"/>
              <a:t>必须是 8 位单通道图（灰度图）</a:t>
            </a:r>
            <a:r>
              <a:rPr/>
              <a:t>，所以代码里先 </a:t>
            </a:r>
            <a:r>
              <a:rPr>
                <a:latin typeface="Courier"/>
              </a:rPr>
              <a:t>cvtColor</a:t>
            </a:r>
            <a:r>
              <a:rPr/>
              <a:t> 转灰度</a:t>
            </a:r>
          </a:p>
          <a:p>
            <a:pPr lvl="0"/>
            <a:r>
              <a:rPr b="1"/>
              <a:t>threshold1</a:t>
            </a:r>
            <a:r>
              <a:rPr/>
              <a:t>：</a:t>
            </a:r>
            <a:r>
              <a:rPr b="1"/>
              <a:t>低阈值</a:t>
            </a:r>
            <a:r>
              <a:rPr/>
              <a:t>（代码里是 90），用于判定”弱边缘”</a:t>
            </a:r>
          </a:p>
          <a:p>
            <a:pPr lvl="0"/>
            <a:r>
              <a:rPr b="1"/>
              <a:t>threshold2</a:t>
            </a:r>
            <a:r>
              <a:rPr/>
              <a:t>：</a:t>
            </a:r>
            <a:r>
              <a:rPr b="1"/>
              <a:t>高阈值</a:t>
            </a:r>
            <a:r>
              <a:rPr/>
              <a:t>（代码里是 150），用于判定”强边缘”</a:t>
            </a:r>
          </a:p>
          <a:p>
            <a:pPr lvl="0"/>
            <a:r>
              <a:rPr/>
              <a:t>建议 threshold1 与 threshold2 的比值约 1:2 ~ 1:3（90:150 ≈ 1:1.7）</a:t>
            </a:r>
          </a:p>
          <a:p>
            <a:pPr lvl="0" indent="0" marL="0">
              <a:buNone/>
            </a:pPr>
            <a:r>
              <a:rPr b="1"/>
              <a:t>Canny 的五步流程：</a:t>
            </a:r>
          </a:p>
          <a:p>
            <a:pPr lvl="0" indent="0">
              <a:buNone/>
            </a:pPr>
            <a:r>
              <a:rPr>
                <a:latin typeface="Courier"/>
              </a:rPr>
              <a:t>原始图像
   ↓ ① 高斯滤波去噪（消除噪声对梯度的干扰）
   ↓ ② 计算梯度幅值和方向（内部用 Sobel，方向 = atan2(Gy, Gx)）
   ↓ ③ 非极大值抑制 NMS（沿梯度方向只保留幅值最大的像素 → 边缘细化成单像素）
   ↓ ④ 双阈值检测（&gt;高阈值→强边缘；&lt;低阈值→丢弃；之间→弱边缘）
   ↓ ⑤ 滞后连接（弱边缘若与强边缘连通则保留，否则丢弃）
输出边缘图</a:t>
            </a:r>
          </a:p>
          <a:p>
            <a:pPr lvl="0" indent="0" marL="0">
              <a:buNone/>
            </a:pPr>
            <a:r>
              <a:rPr b="1"/>
              <a:t>双阈值（滞后阈值）逻辑：</a:t>
            </a:r>
          </a:p>
          <a:p>
            <a:pPr lvl="0" indent="0">
              <a:buNone/>
            </a:pPr>
            <a:r>
              <a:rPr>
                <a:latin typeface="Courier"/>
              </a:rPr>
              <a:t>梯度幅值 &gt; 150 → 强边缘，一定保留
90 &lt; 梯度幅值 &lt; 150 → 弱边缘，只有与强边缘相连才保留
梯度幅值 &lt; 90 → 当作噪声，丢弃</a:t>
            </a:r>
          </a:p>
          <a:p>
            <a:pPr lvl="0"/>
            <a:r>
              <a:rPr/>
              <a:t>高阈值太大 → 边缘断断续续（很多真实边缘被当成噪声丢掉）</a:t>
            </a:r>
          </a:p>
          <a:p>
            <a:pPr lvl="0"/>
            <a:r>
              <a:rPr/>
              <a:t>低阈值太小 → 噪声多、边缘粗杂</a:t>
            </a:r>
          </a:p>
          <a:p>
            <a:pPr lvl="0" indent="0" marL="0">
              <a:buNone/>
            </a:pPr>
            <a:r>
              <a:rPr b="1"/>
              <a:t>Canny 为什么效果好：</a:t>
            </a:r>
          </a:p>
          <a:p>
            <a:pPr lvl="0"/>
            <a:r>
              <a:rPr/>
              <a:t>先高斯滤波 → 抗噪</a:t>
            </a:r>
          </a:p>
          <a:p>
            <a:pPr lvl="0"/>
            <a:r>
              <a:rPr/>
              <a:t>非极大值抑制 → 边缘</a:t>
            </a:r>
            <a:r>
              <a:rPr b="1"/>
              <a:t>细</a:t>
            </a:r>
            <a:r>
              <a:rPr/>
              <a:t>（单像素宽），定位准</a:t>
            </a:r>
          </a:p>
          <a:p>
            <a:pPr lvl="0"/>
            <a:r>
              <a:rPr/>
              <a:t>双阈值 + 滞后连接 → 边缘</a:t>
            </a:r>
            <a:r>
              <a:rPr b="1"/>
              <a:t>连续</a:t>
            </a:r>
            <a:r>
              <a:rPr/>
              <a:t>，能抑制孤立的假边缘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cv2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,cv2.WINDOW_AUTOSIZE)</a:t>
            </a:r>
            <a:br/>
            <a:r>
              <a:rPr>
                <a:latin typeface="Courier"/>
              </a:rPr>
              <a:t>cv2.namedWindow(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,cv2.WINDOW_AUTOSIZE)</a:t>
            </a:r>
            <a:br/>
            <a:br/>
            <a:r>
              <a:rPr>
                <a:latin typeface="Courier"/>
              </a:rPr>
              <a:t>img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cv2.imread(</a:t>
            </a:r>
            <a:r>
              <a:rPr>
                <a:solidFill>
                  <a:srgbClr val="4070A0"/>
                </a:solidFill>
                <a:latin typeface="Courier"/>
              </a:rPr>
              <a:t>'Pic/Camera0.png'</a:t>
            </a:r>
            <a:r>
              <a:rPr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#Canny要求输入是单通道8位图，先转灰度</a:t>
            </a:r>
            <a:br/>
            <a:r>
              <a:rPr>
                <a:latin typeface="Courier"/>
              </a:rPr>
              <a:t>gray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cv2.cvtColor(img, cv2.COLOR_BGR2GRAY)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#90是低阈值，150是高阈值</a:t>
            </a:r>
            <a:br/>
            <a:r>
              <a:rPr>
                <a:latin typeface="Courier"/>
              </a:rPr>
              <a:t>can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cv2.Canny(gray,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150</a:t>
            </a:r>
            <a:r>
              <a:rPr>
                <a:latin typeface="Courier"/>
              </a:rPr>
              <a:t>)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'ori'</a:t>
            </a:r>
            <a:r>
              <a:rPr>
                <a:latin typeface="Courier"/>
              </a:rPr>
              <a:t>,img)</a:t>
            </a:r>
            <a:br/>
            <a:r>
              <a:rPr>
                <a:latin typeface="Courier"/>
              </a:rPr>
              <a:t>    cv2.imshow(</a:t>
            </a:r>
            <a:r>
              <a:rPr>
                <a:solidFill>
                  <a:srgbClr val="4070A0"/>
                </a:solidFill>
                <a:latin typeface="Courier"/>
              </a:rPr>
              <a:t>'new'</a:t>
            </a:r>
            <a:r>
              <a:rPr>
                <a:latin typeface="Courier"/>
              </a:rPr>
              <a:t>,can)</a:t>
            </a:r>
            <a:br/>
            <a:r>
              <a:rPr>
                <a:latin typeface="Courier"/>
              </a:rPr>
              <a:t>   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cv2.waitKey(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666666"/>
                </a:solidFill>
                <a:latin typeface="Courier"/>
              </a:rPr>
              <a:t>&amp;</a:t>
            </a:r>
            <a:r>
              <a:rPr>
                <a:solidFill>
                  <a:srgbClr val="40A070"/>
                </a:solidFill>
                <a:latin typeface="Courier"/>
              </a:rPr>
              <a:t>0xff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key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solidFill>
                  <a:srgbClr val="008000"/>
                </a:solidFill>
                <a:latin typeface="Courier"/>
              </a:rPr>
              <a:t>ord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'q'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break</a:t>
            </a:r>
            <a:br/>
            <a:br/>
            <a:r>
              <a:rPr>
                <a:latin typeface="Courier"/>
              </a:rPr>
              <a:t>cv2.destroyAllWindows()</a:t>
            </a:r>
          </a:p>
          <a:p>
            <a:pPr lvl="0" indent="0" marL="0">
              <a:buNone/>
            </a:pPr>
            <a:r>
              <a:rPr b="1"/>
              <a:t>注意：</a:t>
            </a:r>
          </a:p>
          <a:p>
            <a:pPr lvl="0"/>
            <a:r>
              <a:rPr>
                <a:latin typeface="Courier"/>
              </a:rPr>
              <a:t>cvtColor(img, cv2.COLOR_BGR2GRAY)</a:t>
            </a:r>
            <a:r>
              <a:rPr/>
              <a:t>：把三通道 BGR 图转成单通道灰度图</a:t>
            </a:r>
          </a:p>
          <a:p>
            <a:pPr lvl="0"/>
            <a:r>
              <a:rPr/>
              <a:t>Canny 输出是 </a:t>
            </a:r>
            <a:r>
              <a:rPr b="1"/>
              <a:t>0/255 的二值图</a:t>
            </a:r>
            <a:r>
              <a:rPr/>
              <a:t>（255 是边缘，0 是背景），不是梯度图</a:t>
            </a:r>
          </a:p>
          <a:p>
            <a:pPr lvl="0"/>
            <a:r>
              <a:rPr/>
              <a:t>调参经验：边缘多而杂 → 调大两个阈值；边缘太稀少 → 调小阈值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381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总结：三种边缘检测方法对比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358900"/>
          <a:ext cx="8229600" cy="21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/>
                <a:gridCol w="1422400"/>
                <a:gridCol w="1422400"/>
                <a:gridCol w="1422400"/>
                <a:gridCol w="1422400"/>
                <a:gridCol w="1130300"/>
              </a:tblGrid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微分阶数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是否需要分方向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对噪声敏感度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边缘特点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适用场景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Sobel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一阶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需要（dx/dy）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较低（核自带平滑）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边缘较粗、有方向信息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快速检测、梯度计算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Laplacian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二阶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不需要（各向同性）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定位准但双响应、易受噪声干扰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配合高斯滤波（LoG）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Canny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一阶+多阶段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自动处理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低（先滤波）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单像素宽、连续、干净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最常用，通用边缘检测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1800"/>
            <a:ext cx="8229600" cy="2755900"/>
          </a:xfrm>
        </p:spPr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思路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一阶 vs 二阶</a:t>
            </a:r>
          </a:p>
          <a:p>
            <a:pPr lvl="0"/>
            <a:r>
              <a:rPr b="1"/>
              <a:t>一阶（Sobel）</a:t>
            </a:r>
            <a:r>
              <a:rPr/>
              <a:t>：找”变化率最大”的地方，边缘处是</a:t>
            </a:r>
            <a:r>
              <a:rPr b="1"/>
              <a:t>极大值</a:t>
            </a:r>
          </a:p>
          <a:p>
            <a:pPr lvl="0"/>
            <a:r>
              <a:rPr b="1"/>
              <a:t>二阶（Laplacian）</a:t>
            </a:r>
            <a:r>
              <a:rPr/>
              <a:t>：找”变化率的拐点”，边缘处是</a:t>
            </a:r>
            <a:r>
              <a:rPr b="1"/>
              <a:t>过零点</a:t>
            </a:r>
          </a:p>
          <a:p>
            <a:pPr lvl="0"/>
            <a:r>
              <a:rPr/>
              <a:t>二阶对细节更敏感，但也把噪声放大得更厉害，所以 Laplacian 常常和高斯滤波搭配使用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ddepth=-1 的坑</a:t>
            </a:r>
          </a:p>
          <a:p>
            <a:pPr lvl="0" indent="0" marL="0">
              <a:buNone/>
            </a:pPr>
            <a:r>
              <a:rPr/>
              <a:t>uint8 只能存 0~255，而梯度有正有负。</a:t>
            </a:r>
            <a:r>
              <a:rPr>
                <a:latin typeface="Courier"/>
              </a:rPr>
              <a:t>ddepth=-1</a:t>
            </a:r>
            <a:r>
              <a:rPr/>
              <a:t> 直接截断负数，结果会”丢一半边缘”。</a:t>
            </a:r>
            <a:r>
              <a:rPr b="1"/>
              <a:t>凡是求导操作，都建议用 </a:t>
            </a:r>
            <a:r>
              <a:rPr b="1">
                <a:latin typeface="Courier"/>
              </a:rPr>
              <a:t>cv2.CV_64F</a:t>
            </a:r>
            <a:r>
              <a:rPr b="1"/>
              <a:t>（或 CV_32F），最后再用 </a:t>
            </a:r>
            <a:r>
              <a:rPr b="1">
                <a:latin typeface="Courier"/>
              </a:rPr>
              <a:t>convertScaleAbs</a:t>
            </a:r>
            <a:r>
              <a:rPr b="1"/>
              <a:t> 转回 uint8 显示。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边缘检测前的准备</a:t>
            </a:r>
          </a:p>
          <a:p>
            <a:pPr lvl="0"/>
            <a:r>
              <a:rPr/>
              <a:t>先转灰度（Canny 强制要求）</a:t>
            </a:r>
          </a:p>
          <a:p>
            <a:pPr lvl="0"/>
            <a:r>
              <a:rPr/>
              <a:t>先滤波去噪（高斯滤波最常用），否则噪声会被当成边缘</a:t>
            </a:r>
          </a:p>
          <a:p>
            <a:pPr lvl="0"/>
            <a:r>
              <a:rPr/>
              <a:t>边缘检测是”前端操作”，后续常接轮廓查找 </a:t>
            </a:r>
            <a:r>
              <a:rPr>
                <a:latin typeface="Courier"/>
              </a:rPr>
              <a:t>cv2.findContours</a:t>
            </a:r>
            <a:r>
              <a:rPr/>
              <a:t>、霍夫变换 </a:t>
            </a:r>
            <a:r>
              <a:rPr>
                <a:latin typeface="Courier"/>
              </a:rPr>
              <a:t>cv2.HoughLines</a:t>
            </a:r>
            <a:r>
              <a:rPr/>
              <a:t> 等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什么时候用哪种？</a:t>
            </a:r>
          </a:p>
          <a:p>
            <a:pPr lvl="0" indent="0">
              <a:buNone/>
            </a:pPr>
            <a:r>
              <a:rPr>
                <a:latin typeface="Courier"/>
              </a:rPr>
              <a:t>需要梯度的方向和大小（如光流、角点检测的前置） → Sobel
需要检测所有方向、细节敏感且噪声少        → Laplacian（或 LoG）
需要干净、连续、单像素的边缘轮廓          → Canny（首选）
需要自己调节边缘粗细和连续性              → Canny 调阈值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代码改进建议</a:t>
            </a:r>
          </a:p>
          <a:p>
            <a:pPr lvl="0" indent="0" marL="0">
              <a:buNone/>
            </a:pPr>
            <a:r>
              <a:rPr/>
              <a:t>把三份代码统一成”转灰度 + 取绝对值 + 加权合并”的写法，方便对比三种算子的效果：</a:t>
            </a:r>
          </a:p>
          <a:p>
            <a:pPr lvl="0" indent="0">
              <a:buNone/>
            </a:pPr>
            <a:r>
              <a:rPr>
                <a:latin typeface="Courier"/>
              </a:rPr>
              <a:t>gray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cv2.cvtColor(img,cv2.COLOR_BGR2GRAY)          </a:t>
            </a:r>
            <a:r>
              <a:rPr i="1">
                <a:solidFill>
                  <a:srgbClr val="60A0B0"/>
                </a:solidFill>
                <a:latin typeface="Courier"/>
              </a:rPr>
              <a:t># 统一先转灰度</a:t>
            </a:r>
            <a:br/>
            <a:r>
              <a:rPr>
                <a:latin typeface="Courier"/>
              </a:rPr>
              <a:t>gx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cv2.Sobel(gray,cv2.CV_64F,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         </a:t>
            </a:r>
            <a:r>
              <a:rPr i="1">
                <a:solidFill>
                  <a:srgbClr val="60A0B0"/>
                </a:solidFill>
                <a:latin typeface="Courier"/>
              </a:rPr>
              <a:t># Scharr更精确</a:t>
            </a:r>
            <a:br/>
            <a:r>
              <a:rPr>
                <a:latin typeface="Courier"/>
              </a:rPr>
              <a:t>gy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cv2.Sobel(gray,cv2.CV_64F,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,ksize</a:t>
            </a:r>
            <a:r>
              <a:rPr>
                <a:solidFill>
                  <a:srgbClr val="666666"/>
                </a:solidFill>
                <a:latin typeface="Courier"/>
              </a:rPr>
              <a:t>=-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mag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cv2.addWeighted(cv2.convertScaleAbs(gx),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,cv2.convertScaleAbs(gy),</a:t>
            </a:r>
            <a:r>
              <a:rPr>
                <a:solidFill>
                  <a:srgbClr val="40A070"/>
                </a:solidFill>
                <a:latin typeface="Courier"/>
              </a:rPr>
              <a:t>0.5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lap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cv2.convertScaleAbs(cv2.Laplacian(gray,cv2.CV_64F,ksize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can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cv2.Canny(gray,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150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三张结果图放在一起对比，能明显看出：Sobel 边缘”粗”、Laplacian 边缘”碎”（噪声多）、Canny 边缘”细且连续”。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2026-08-28T15:53:03Z</dcterms:created>
  <dcterms:modified xsi:type="dcterms:W3CDTF">2026-08-28T15:53:03Z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